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: title"/>
          <p:cNvSpPr txBox="1"/>
          <p:nvPr/>
        </p:nvSpPr>
        <p:spPr>
          <a:xfrm>
            <a:off x="182880" y="91440"/>
            <a:ext cx="11823192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500" b="1">
                <a:solidFill>
                  <a:srgbClr val="062A62"/>
                </a:solidFill>
                <a:latin typeface="Aptos"/>
              </a:rPr>
              <a:t>AgriOcc Architecture</a:t>
            </a:r>
          </a:p>
        </p:txBody>
      </p:sp>
      <p:sp>
        <p:nvSpPr>
          <p:cNvPr id="3" name="Edit: container"/>
          <p:cNvSpPr/>
          <p:nvPr/>
        </p:nvSpPr>
        <p:spPr>
          <a:xfrm>
            <a:off x="137160" y="777240"/>
            <a:ext cx="1417320" cy="5440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: container title"/>
          <p:cNvSpPr txBox="1"/>
          <p:nvPr/>
        </p:nvSpPr>
        <p:spPr>
          <a:xfrm>
            <a:off x="246888" y="822960"/>
            <a:ext cx="119786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3 Front-view Images</a:t>
            </a:r>
          </a:p>
        </p:txBody>
      </p:sp>
      <p:sp>
        <p:nvSpPr>
          <p:cNvPr id="5" name="Edit: camera view"/>
          <p:cNvSpPr/>
          <p:nvPr/>
        </p:nvSpPr>
        <p:spPr>
          <a:xfrm>
            <a:off x="347472" y="1325880"/>
            <a:ext cx="1005840" cy="804672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62A62"/>
                </a:solidFill>
                <a:latin typeface="Aptos"/>
              </a:rPr>
              <a:t>Front-Left</a:t>
            </a:r>
          </a:p>
        </p:txBody>
      </p:sp>
      <p:sp>
        <p:nvSpPr>
          <p:cNvPr id="6" name="Edit: camera view"/>
          <p:cNvSpPr/>
          <p:nvPr/>
        </p:nvSpPr>
        <p:spPr>
          <a:xfrm>
            <a:off x="347472" y="2743200"/>
            <a:ext cx="1005840" cy="804672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62A62"/>
                </a:solidFill>
                <a:latin typeface="Aptos"/>
              </a:rPr>
              <a:t>Front</a:t>
            </a:r>
          </a:p>
        </p:txBody>
      </p:sp>
      <p:sp>
        <p:nvSpPr>
          <p:cNvPr id="7" name="Edit: camera view"/>
          <p:cNvSpPr/>
          <p:nvPr/>
        </p:nvSpPr>
        <p:spPr>
          <a:xfrm>
            <a:off x="347472" y="4160520"/>
            <a:ext cx="1005840" cy="804672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62A62"/>
                </a:solidFill>
                <a:latin typeface="Aptos"/>
              </a:rPr>
              <a:t>Front-Right</a:t>
            </a:r>
          </a:p>
        </p:txBody>
      </p:sp>
      <p:sp>
        <p:nvSpPr>
          <p:cNvPr id="8" name="Edit: container"/>
          <p:cNvSpPr/>
          <p:nvPr/>
        </p:nvSpPr>
        <p:spPr>
          <a:xfrm>
            <a:off x="1627632" y="777240"/>
            <a:ext cx="2148840" cy="5440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: container title"/>
          <p:cNvSpPr txBox="1"/>
          <p:nvPr/>
        </p:nvSpPr>
        <p:spPr>
          <a:xfrm>
            <a:off x="1737360" y="822960"/>
            <a:ext cx="192938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ResNet-101 + FPN</a:t>
            </a:r>
          </a:p>
        </p:txBody>
      </p:sp>
      <p:sp>
        <p:nvSpPr>
          <p:cNvPr id="10" name="Edit: ResNet feature"/>
          <p:cNvSpPr/>
          <p:nvPr/>
        </p:nvSpPr>
        <p:spPr>
          <a:xfrm>
            <a:off x="1956816" y="1508760"/>
            <a:ext cx="502920" cy="347472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: FPN feature"/>
          <p:cNvSpPr/>
          <p:nvPr/>
        </p:nvSpPr>
        <p:spPr>
          <a:xfrm>
            <a:off x="2834640" y="1508760"/>
            <a:ext cx="566928" cy="292608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P2</a:t>
            </a:r>
          </a:p>
        </p:txBody>
      </p:sp>
      <p:cxnSp>
        <p:nvCxnSpPr>
          <p:cNvPr id="12" name="Edit: arrow"/>
          <p:cNvCxnSpPr/>
          <p:nvPr/>
        </p:nvCxnSpPr>
        <p:spPr>
          <a:xfrm flipV="1">
            <a:off x="2468880" y="1664208"/>
            <a:ext cx="365760" cy="18288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it: ResNet feature"/>
          <p:cNvSpPr/>
          <p:nvPr/>
        </p:nvSpPr>
        <p:spPr>
          <a:xfrm>
            <a:off x="1956816" y="2240280"/>
            <a:ext cx="502920" cy="347472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: FPN feature"/>
          <p:cNvSpPr/>
          <p:nvPr/>
        </p:nvSpPr>
        <p:spPr>
          <a:xfrm>
            <a:off x="2834640" y="2240280"/>
            <a:ext cx="566928" cy="292608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P3</a:t>
            </a:r>
          </a:p>
        </p:txBody>
      </p:sp>
      <p:cxnSp>
        <p:nvCxnSpPr>
          <p:cNvPr id="15" name="Edit: arrow"/>
          <p:cNvCxnSpPr/>
          <p:nvPr/>
        </p:nvCxnSpPr>
        <p:spPr>
          <a:xfrm flipV="1">
            <a:off x="2468880" y="2395728"/>
            <a:ext cx="365760" cy="18288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: ResNet feature"/>
          <p:cNvSpPr/>
          <p:nvPr/>
        </p:nvSpPr>
        <p:spPr>
          <a:xfrm>
            <a:off x="1956816" y="2971800"/>
            <a:ext cx="502920" cy="347472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: FPN feature"/>
          <p:cNvSpPr/>
          <p:nvPr/>
        </p:nvSpPr>
        <p:spPr>
          <a:xfrm>
            <a:off x="2834640" y="2971800"/>
            <a:ext cx="566928" cy="292608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P4</a:t>
            </a:r>
          </a:p>
        </p:txBody>
      </p:sp>
      <p:cxnSp>
        <p:nvCxnSpPr>
          <p:cNvPr id="18" name="Edit: arrow"/>
          <p:cNvCxnSpPr/>
          <p:nvPr/>
        </p:nvCxnSpPr>
        <p:spPr>
          <a:xfrm flipV="1">
            <a:off x="2468880" y="3127248"/>
            <a:ext cx="365760" cy="18288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it: ResNet feature"/>
          <p:cNvSpPr/>
          <p:nvPr/>
        </p:nvSpPr>
        <p:spPr>
          <a:xfrm>
            <a:off x="1956816" y="3703320"/>
            <a:ext cx="502920" cy="347472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: FPN feature"/>
          <p:cNvSpPr/>
          <p:nvPr/>
        </p:nvSpPr>
        <p:spPr>
          <a:xfrm>
            <a:off x="2834640" y="3703320"/>
            <a:ext cx="566928" cy="292608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P5</a:t>
            </a:r>
          </a:p>
        </p:txBody>
      </p:sp>
      <p:cxnSp>
        <p:nvCxnSpPr>
          <p:cNvPr id="21" name="Edit: arrow"/>
          <p:cNvCxnSpPr/>
          <p:nvPr/>
        </p:nvCxnSpPr>
        <p:spPr>
          <a:xfrm flipV="1">
            <a:off x="2468880" y="3858768"/>
            <a:ext cx="365760" cy="18288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it: label"/>
          <p:cNvSpPr txBox="1"/>
          <p:nvPr/>
        </p:nvSpPr>
        <p:spPr>
          <a:xfrm>
            <a:off x="1828800" y="4846320"/>
            <a:ext cx="17830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4-scale image features</a:t>
            </a:r>
          </a:p>
        </p:txBody>
      </p:sp>
      <p:sp>
        <p:nvSpPr>
          <p:cNvPr id="23" name="Edit: container"/>
          <p:cNvSpPr/>
          <p:nvPr/>
        </p:nvSpPr>
        <p:spPr>
          <a:xfrm>
            <a:off x="3886200" y="777240"/>
            <a:ext cx="3429000" cy="5440680"/>
          </a:xfrm>
          <a:prstGeom prst="roundRect">
            <a:avLst/>
          </a:prstGeom>
          <a:solidFill>
            <a:srgbClr val="F3FFF0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: container title"/>
          <p:cNvSpPr txBox="1"/>
          <p:nvPr/>
        </p:nvSpPr>
        <p:spPr>
          <a:xfrm>
            <a:off x="3995928" y="822960"/>
            <a:ext cx="320954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GeoVis-BEV Encoder (6 layers)</a:t>
            </a:r>
          </a:p>
        </p:txBody>
      </p:sp>
      <p:sp>
        <p:nvSpPr>
          <p:cNvPr id="25" name="Edit: NearFar band"/>
          <p:cNvSpPr/>
          <p:nvPr/>
        </p:nvSpPr>
        <p:spPr>
          <a:xfrm>
            <a:off x="4160520" y="1234440"/>
            <a:ext cx="2880360" cy="38404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NearFar Query Layout, Layers 1–5</a:t>
            </a:r>
          </a:p>
        </p:txBody>
      </p:sp>
      <p:sp>
        <p:nvSpPr>
          <p:cNvPr id="26" name="Edit: module"/>
          <p:cNvSpPr/>
          <p:nvPr/>
        </p:nvSpPr>
        <p:spPr>
          <a:xfrm>
            <a:off x="4315968" y="1874519"/>
            <a:ext cx="621792" cy="59436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27" name="Edit: module"/>
          <p:cNvSpPr/>
          <p:nvPr/>
        </p:nvSpPr>
        <p:spPr>
          <a:xfrm>
            <a:off x="5212080" y="1874519"/>
            <a:ext cx="1051560" cy="59436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Image
Cross-Attention</a:t>
            </a:r>
          </a:p>
        </p:txBody>
      </p:sp>
      <p:sp>
        <p:nvSpPr>
          <p:cNvPr id="28" name="Edit: module"/>
          <p:cNvSpPr/>
          <p:nvPr/>
        </p:nvSpPr>
        <p:spPr>
          <a:xfrm>
            <a:off x="6537960" y="1874519"/>
            <a:ext cx="502920" cy="59436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cxnSp>
        <p:nvCxnSpPr>
          <p:cNvPr id="29" name="Edit: arrow"/>
          <p:cNvCxnSpPr/>
          <p:nvPr/>
        </p:nvCxnSpPr>
        <p:spPr>
          <a:xfrm>
            <a:off x="4937760" y="2167128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dit: arrow"/>
          <p:cNvCxnSpPr/>
          <p:nvPr/>
        </p:nvCxnSpPr>
        <p:spPr>
          <a:xfrm>
            <a:off x="6263640" y="2167128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it: label"/>
          <p:cNvSpPr txBox="1"/>
          <p:nvPr/>
        </p:nvSpPr>
        <p:spPr>
          <a:xfrm>
            <a:off x="6858000" y="2011680"/>
            <a:ext cx="292608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× 6</a:t>
            </a:r>
          </a:p>
        </p:txBody>
      </p:sp>
      <p:sp>
        <p:nvSpPr>
          <p:cNvPr id="32" name="Edit: dense restore"/>
          <p:cNvSpPr/>
          <p:nvPr/>
        </p:nvSpPr>
        <p:spPr>
          <a:xfrm>
            <a:off x="4343400" y="2834640"/>
            <a:ext cx="2651760" cy="365760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Restore Dense BEV before Layer 6</a:t>
            </a:r>
          </a:p>
        </p:txBody>
      </p:sp>
      <p:sp>
        <p:nvSpPr>
          <p:cNvPr id="33" name="Edit: BEV grid"/>
          <p:cNvSpPr/>
          <p:nvPr/>
        </p:nvSpPr>
        <p:spPr>
          <a:xfrm>
            <a:off x="4343400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: BEV grid"/>
          <p:cNvSpPr/>
          <p:nvPr/>
        </p:nvSpPr>
        <p:spPr>
          <a:xfrm>
            <a:off x="4544568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: BEV grid"/>
          <p:cNvSpPr/>
          <p:nvPr/>
        </p:nvSpPr>
        <p:spPr>
          <a:xfrm>
            <a:off x="4745736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: BEV grid"/>
          <p:cNvSpPr/>
          <p:nvPr/>
        </p:nvSpPr>
        <p:spPr>
          <a:xfrm>
            <a:off x="4946904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: BEV grid"/>
          <p:cNvSpPr/>
          <p:nvPr/>
        </p:nvSpPr>
        <p:spPr>
          <a:xfrm>
            <a:off x="5148072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: BEV grid"/>
          <p:cNvSpPr/>
          <p:nvPr/>
        </p:nvSpPr>
        <p:spPr>
          <a:xfrm>
            <a:off x="5349240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: BEV grid"/>
          <p:cNvSpPr/>
          <p:nvPr/>
        </p:nvSpPr>
        <p:spPr>
          <a:xfrm>
            <a:off x="5550408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: BEV grid"/>
          <p:cNvSpPr/>
          <p:nvPr/>
        </p:nvSpPr>
        <p:spPr>
          <a:xfrm>
            <a:off x="4343400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: BEV grid"/>
          <p:cNvSpPr/>
          <p:nvPr/>
        </p:nvSpPr>
        <p:spPr>
          <a:xfrm>
            <a:off x="4544568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: BEV grid"/>
          <p:cNvSpPr/>
          <p:nvPr/>
        </p:nvSpPr>
        <p:spPr>
          <a:xfrm>
            <a:off x="4745736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: BEV grid"/>
          <p:cNvSpPr/>
          <p:nvPr/>
        </p:nvSpPr>
        <p:spPr>
          <a:xfrm>
            <a:off x="4946904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: BEV grid"/>
          <p:cNvSpPr/>
          <p:nvPr/>
        </p:nvSpPr>
        <p:spPr>
          <a:xfrm>
            <a:off x="5148072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: BEV grid"/>
          <p:cNvSpPr/>
          <p:nvPr/>
        </p:nvSpPr>
        <p:spPr>
          <a:xfrm>
            <a:off x="5349240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: BEV grid"/>
          <p:cNvSpPr/>
          <p:nvPr/>
        </p:nvSpPr>
        <p:spPr>
          <a:xfrm>
            <a:off x="5550408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: BEV grid"/>
          <p:cNvSpPr/>
          <p:nvPr/>
        </p:nvSpPr>
        <p:spPr>
          <a:xfrm>
            <a:off x="4343400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: BEV grid"/>
          <p:cNvSpPr/>
          <p:nvPr/>
        </p:nvSpPr>
        <p:spPr>
          <a:xfrm>
            <a:off x="4544568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: BEV grid"/>
          <p:cNvSpPr/>
          <p:nvPr/>
        </p:nvSpPr>
        <p:spPr>
          <a:xfrm>
            <a:off x="4745736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: BEV grid"/>
          <p:cNvSpPr/>
          <p:nvPr/>
        </p:nvSpPr>
        <p:spPr>
          <a:xfrm>
            <a:off x="4946904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: BEV grid"/>
          <p:cNvSpPr/>
          <p:nvPr/>
        </p:nvSpPr>
        <p:spPr>
          <a:xfrm>
            <a:off x="5148072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: BEV grid"/>
          <p:cNvSpPr/>
          <p:nvPr/>
        </p:nvSpPr>
        <p:spPr>
          <a:xfrm>
            <a:off x="5349240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: BEV grid"/>
          <p:cNvSpPr/>
          <p:nvPr/>
        </p:nvSpPr>
        <p:spPr>
          <a:xfrm>
            <a:off x="5550408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: BEV grid"/>
          <p:cNvSpPr/>
          <p:nvPr/>
        </p:nvSpPr>
        <p:spPr>
          <a:xfrm>
            <a:off x="4343400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: BEV grid"/>
          <p:cNvSpPr/>
          <p:nvPr/>
        </p:nvSpPr>
        <p:spPr>
          <a:xfrm>
            <a:off x="4544568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: BEV grid"/>
          <p:cNvSpPr/>
          <p:nvPr/>
        </p:nvSpPr>
        <p:spPr>
          <a:xfrm>
            <a:off x="4745736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: BEV grid"/>
          <p:cNvSpPr/>
          <p:nvPr/>
        </p:nvSpPr>
        <p:spPr>
          <a:xfrm>
            <a:off x="4946904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: BEV grid"/>
          <p:cNvSpPr/>
          <p:nvPr/>
        </p:nvSpPr>
        <p:spPr>
          <a:xfrm>
            <a:off x="5148072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: BEV grid"/>
          <p:cNvSpPr/>
          <p:nvPr/>
        </p:nvSpPr>
        <p:spPr>
          <a:xfrm>
            <a:off x="5349240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: BEV grid"/>
          <p:cNvSpPr/>
          <p:nvPr/>
        </p:nvSpPr>
        <p:spPr>
          <a:xfrm>
            <a:off x="5550408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: BEV grid"/>
          <p:cNvSpPr/>
          <p:nvPr/>
        </p:nvSpPr>
        <p:spPr>
          <a:xfrm>
            <a:off x="5989320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: BEV grid"/>
          <p:cNvSpPr/>
          <p:nvPr/>
        </p:nvSpPr>
        <p:spPr>
          <a:xfrm>
            <a:off x="6190488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: BEV grid"/>
          <p:cNvSpPr/>
          <p:nvPr/>
        </p:nvSpPr>
        <p:spPr>
          <a:xfrm>
            <a:off x="6391656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: BEV grid"/>
          <p:cNvSpPr/>
          <p:nvPr/>
        </p:nvSpPr>
        <p:spPr>
          <a:xfrm>
            <a:off x="6592824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: BEV grid"/>
          <p:cNvSpPr/>
          <p:nvPr/>
        </p:nvSpPr>
        <p:spPr>
          <a:xfrm>
            <a:off x="6793992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: BEV grid"/>
          <p:cNvSpPr/>
          <p:nvPr/>
        </p:nvSpPr>
        <p:spPr>
          <a:xfrm>
            <a:off x="6995160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: BEV grid"/>
          <p:cNvSpPr/>
          <p:nvPr/>
        </p:nvSpPr>
        <p:spPr>
          <a:xfrm>
            <a:off x="7196328" y="3840480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: BEV grid"/>
          <p:cNvSpPr/>
          <p:nvPr/>
        </p:nvSpPr>
        <p:spPr>
          <a:xfrm>
            <a:off x="5989320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: BEV grid"/>
          <p:cNvSpPr/>
          <p:nvPr/>
        </p:nvSpPr>
        <p:spPr>
          <a:xfrm>
            <a:off x="6190488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: BEV grid"/>
          <p:cNvSpPr/>
          <p:nvPr/>
        </p:nvSpPr>
        <p:spPr>
          <a:xfrm>
            <a:off x="6391656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: BEV grid"/>
          <p:cNvSpPr/>
          <p:nvPr/>
        </p:nvSpPr>
        <p:spPr>
          <a:xfrm>
            <a:off x="6592824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: BEV grid"/>
          <p:cNvSpPr/>
          <p:nvPr/>
        </p:nvSpPr>
        <p:spPr>
          <a:xfrm>
            <a:off x="6793992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: BEV grid"/>
          <p:cNvSpPr/>
          <p:nvPr/>
        </p:nvSpPr>
        <p:spPr>
          <a:xfrm>
            <a:off x="6995160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: BEV grid"/>
          <p:cNvSpPr/>
          <p:nvPr/>
        </p:nvSpPr>
        <p:spPr>
          <a:xfrm>
            <a:off x="7196328" y="4041648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: BEV grid"/>
          <p:cNvSpPr/>
          <p:nvPr/>
        </p:nvSpPr>
        <p:spPr>
          <a:xfrm>
            <a:off x="5989320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: BEV grid"/>
          <p:cNvSpPr/>
          <p:nvPr/>
        </p:nvSpPr>
        <p:spPr>
          <a:xfrm>
            <a:off x="6190488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: BEV grid"/>
          <p:cNvSpPr/>
          <p:nvPr/>
        </p:nvSpPr>
        <p:spPr>
          <a:xfrm>
            <a:off x="6391656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: BEV grid"/>
          <p:cNvSpPr/>
          <p:nvPr/>
        </p:nvSpPr>
        <p:spPr>
          <a:xfrm>
            <a:off x="6592824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: BEV grid"/>
          <p:cNvSpPr/>
          <p:nvPr/>
        </p:nvSpPr>
        <p:spPr>
          <a:xfrm>
            <a:off x="6793992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: BEV grid"/>
          <p:cNvSpPr/>
          <p:nvPr/>
        </p:nvSpPr>
        <p:spPr>
          <a:xfrm>
            <a:off x="6995160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: BEV grid"/>
          <p:cNvSpPr/>
          <p:nvPr/>
        </p:nvSpPr>
        <p:spPr>
          <a:xfrm>
            <a:off x="7196328" y="4242816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: BEV grid"/>
          <p:cNvSpPr/>
          <p:nvPr/>
        </p:nvSpPr>
        <p:spPr>
          <a:xfrm>
            <a:off x="5989320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: BEV grid"/>
          <p:cNvSpPr/>
          <p:nvPr/>
        </p:nvSpPr>
        <p:spPr>
          <a:xfrm>
            <a:off x="6190488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: BEV grid"/>
          <p:cNvSpPr/>
          <p:nvPr/>
        </p:nvSpPr>
        <p:spPr>
          <a:xfrm>
            <a:off x="6391656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: BEV grid"/>
          <p:cNvSpPr/>
          <p:nvPr/>
        </p:nvSpPr>
        <p:spPr>
          <a:xfrm>
            <a:off x="6592824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: BEV grid"/>
          <p:cNvSpPr/>
          <p:nvPr/>
        </p:nvSpPr>
        <p:spPr>
          <a:xfrm>
            <a:off x="6793992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: BEV grid"/>
          <p:cNvSpPr/>
          <p:nvPr/>
        </p:nvSpPr>
        <p:spPr>
          <a:xfrm>
            <a:off x="6995160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: BEV grid"/>
          <p:cNvSpPr/>
          <p:nvPr/>
        </p:nvSpPr>
        <p:spPr>
          <a:xfrm>
            <a:off x="7196328" y="4443984"/>
            <a:ext cx="201168" cy="201168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Edit: arrow"/>
          <p:cNvCxnSpPr/>
          <p:nvPr/>
        </p:nvCxnSpPr>
        <p:spPr>
          <a:xfrm>
            <a:off x="5760720" y="4251960"/>
            <a:ext cx="22860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Edit: label"/>
          <p:cNvSpPr txBox="1"/>
          <p:nvPr/>
        </p:nvSpPr>
        <p:spPr>
          <a:xfrm>
            <a:off x="4160520" y="4709160"/>
            <a:ext cx="160020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BEV Tokens
100 × 100 × 256</a:t>
            </a:r>
          </a:p>
        </p:txBody>
      </p:sp>
      <p:sp>
        <p:nvSpPr>
          <p:cNvPr id="91" name="Edit: label"/>
          <p:cNvSpPr txBox="1"/>
          <p:nvPr/>
        </p:nvSpPr>
        <p:spPr>
          <a:xfrm>
            <a:off x="5897880" y="4709160"/>
            <a:ext cx="14630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Dense BEV Tokens
100 × 100 × 256</a:t>
            </a:r>
          </a:p>
        </p:txBody>
      </p:sp>
      <p:sp>
        <p:nvSpPr>
          <p:cNvPr id="92" name="Edit: container"/>
          <p:cNvSpPr/>
          <p:nvPr/>
        </p:nvSpPr>
        <p:spPr>
          <a:xfrm>
            <a:off x="7406640" y="777240"/>
            <a:ext cx="4617720" cy="5440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: container title"/>
          <p:cNvSpPr txBox="1"/>
          <p:nvPr/>
        </p:nvSpPr>
        <p:spPr>
          <a:xfrm>
            <a:off x="7516367" y="822960"/>
            <a:ext cx="439826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3-stage Occupancy Decoder</a:t>
            </a:r>
          </a:p>
        </p:txBody>
      </p:sp>
      <p:sp>
        <p:nvSpPr>
          <p:cNvPr id="94" name="Edit: module"/>
          <p:cNvSpPr/>
          <p:nvPr/>
        </p:nvSpPr>
        <p:spPr>
          <a:xfrm>
            <a:off x="7662672" y="1828800"/>
            <a:ext cx="658368" cy="59436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Stage 1</a:t>
            </a:r>
          </a:p>
        </p:txBody>
      </p:sp>
      <p:sp>
        <p:nvSpPr>
          <p:cNvPr id="95" name="Edit: module"/>
          <p:cNvSpPr/>
          <p:nvPr/>
        </p:nvSpPr>
        <p:spPr>
          <a:xfrm>
            <a:off x="8485632" y="1828800"/>
            <a:ext cx="658368" cy="59436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Stage 2</a:t>
            </a:r>
          </a:p>
        </p:txBody>
      </p:sp>
      <p:sp>
        <p:nvSpPr>
          <p:cNvPr id="96" name="Edit: module"/>
          <p:cNvSpPr/>
          <p:nvPr/>
        </p:nvSpPr>
        <p:spPr>
          <a:xfrm>
            <a:off x="9308592" y="1828800"/>
            <a:ext cx="960120" cy="59436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Final Stage:
Agri-AMoE</a:t>
            </a:r>
          </a:p>
        </p:txBody>
      </p:sp>
      <p:cxnSp>
        <p:nvCxnSpPr>
          <p:cNvPr id="97" name="Edit: arrow"/>
          <p:cNvCxnSpPr/>
          <p:nvPr/>
        </p:nvCxnSpPr>
        <p:spPr>
          <a:xfrm>
            <a:off x="8321040" y="2121408"/>
            <a:ext cx="164592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dit: arrow"/>
          <p:cNvCxnSpPr/>
          <p:nvPr/>
        </p:nvCxnSpPr>
        <p:spPr>
          <a:xfrm>
            <a:off x="9144000" y="2121408"/>
            <a:ext cx="164592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Edit: module"/>
          <p:cNvSpPr/>
          <p:nvPr/>
        </p:nvSpPr>
        <p:spPr>
          <a:xfrm>
            <a:off x="10424160" y="1828800"/>
            <a:ext cx="621792" cy="594360"/>
          </a:xfrm>
          <a:prstGeom prst="roundRect">
            <a:avLst/>
          </a:prstGeom>
          <a:solidFill>
            <a:srgbClr val="EEF2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BEV-to-3D
Lift</a:t>
            </a:r>
          </a:p>
        </p:txBody>
      </p:sp>
      <p:cxnSp>
        <p:nvCxnSpPr>
          <p:cNvPr id="100" name="Edit: arrow"/>
          <p:cNvCxnSpPr/>
          <p:nvPr/>
        </p:nvCxnSpPr>
        <p:spPr>
          <a:xfrm>
            <a:off x="10268712" y="2121408"/>
            <a:ext cx="155448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Edit: BEV grid"/>
          <p:cNvSpPr/>
          <p:nvPr/>
        </p:nvSpPr>
        <p:spPr>
          <a:xfrm>
            <a:off x="11109960" y="2331720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: BEV grid"/>
          <p:cNvSpPr/>
          <p:nvPr/>
        </p:nvSpPr>
        <p:spPr>
          <a:xfrm>
            <a:off x="11237976" y="2331720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: BEV grid"/>
          <p:cNvSpPr/>
          <p:nvPr/>
        </p:nvSpPr>
        <p:spPr>
          <a:xfrm>
            <a:off x="11365992" y="2331720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: BEV grid"/>
          <p:cNvSpPr/>
          <p:nvPr/>
        </p:nvSpPr>
        <p:spPr>
          <a:xfrm>
            <a:off x="11494008" y="2331720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: BEV grid"/>
          <p:cNvSpPr/>
          <p:nvPr/>
        </p:nvSpPr>
        <p:spPr>
          <a:xfrm>
            <a:off x="11622024" y="2331720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: BEV grid"/>
          <p:cNvSpPr/>
          <p:nvPr/>
        </p:nvSpPr>
        <p:spPr>
          <a:xfrm>
            <a:off x="11109960" y="2459736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: BEV grid"/>
          <p:cNvSpPr/>
          <p:nvPr/>
        </p:nvSpPr>
        <p:spPr>
          <a:xfrm>
            <a:off x="11237976" y="2459736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: BEV grid"/>
          <p:cNvSpPr/>
          <p:nvPr/>
        </p:nvSpPr>
        <p:spPr>
          <a:xfrm>
            <a:off x="11365992" y="2459736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: BEV grid"/>
          <p:cNvSpPr/>
          <p:nvPr/>
        </p:nvSpPr>
        <p:spPr>
          <a:xfrm>
            <a:off x="11494008" y="2459736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: BEV grid"/>
          <p:cNvSpPr/>
          <p:nvPr/>
        </p:nvSpPr>
        <p:spPr>
          <a:xfrm>
            <a:off x="11622024" y="2459736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: BEV grid"/>
          <p:cNvSpPr/>
          <p:nvPr/>
        </p:nvSpPr>
        <p:spPr>
          <a:xfrm>
            <a:off x="11109960" y="2587752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: BEV grid"/>
          <p:cNvSpPr/>
          <p:nvPr/>
        </p:nvSpPr>
        <p:spPr>
          <a:xfrm>
            <a:off x="11237976" y="2587752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: BEV grid"/>
          <p:cNvSpPr/>
          <p:nvPr/>
        </p:nvSpPr>
        <p:spPr>
          <a:xfrm>
            <a:off x="11365992" y="2587752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: BEV grid"/>
          <p:cNvSpPr/>
          <p:nvPr/>
        </p:nvSpPr>
        <p:spPr>
          <a:xfrm>
            <a:off x="11494008" y="2587752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: BEV grid"/>
          <p:cNvSpPr/>
          <p:nvPr/>
        </p:nvSpPr>
        <p:spPr>
          <a:xfrm>
            <a:off x="11622024" y="2587752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: BEV grid"/>
          <p:cNvSpPr/>
          <p:nvPr/>
        </p:nvSpPr>
        <p:spPr>
          <a:xfrm>
            <a:off x="11109960" y="2715768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: BEV grid"/>
          <p:cNvSpPr/>
          <p:nvPr/>
        </p:nvSpPr>
        <p:spPr>
          <a:xfrm>
            <a:off x="11237976" y="2715768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: BEV grid"/>
          <p:cNvSpPr/>
          <p:nvPr/>
        </p:nvSpPr>
        <p:spPr>
          <a:xfrm>
            <a:off x="11365992" y="2715768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: BEV grid"/>
          <p:cNvSpPr/>
          <p:nvPr/>
        </p:nvSpPr>
        <p:spPr>
          <a:xfrm>
            <a:off x="11494008" y="2715768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: BEV grid"/>
          <p:cNvSpPr/>
          <p:nvPr/>
        </p:nvSpPr>
        <p:spPr>
          <a:xfrm>
            <a:off x="11622024" y="2715768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: BEV grid"/>
          <p:cNvSpPr/>
          <p:nvPr/>
        </p:nvSpPr>
        <p:spPr>
          <a:xfrm>
            <a:off x="11109960" y="2843784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: BEV grid"/>
          <p:cNvSpPr/>
          <p:nvPr/>
        </p:nvSpPr>
        <p:spPr>
          <a:xfrm>
            <a:off x="11237976" y="2843784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: BEV grid"/>
          <p:cNvSpPr/>
          <p:nvPr/>
        </p:nvSpPr>
        <p:spPr>
          <a:xfrm>
            <a:off x="11365992" y="2843784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: BEV grid"/>
          <p:cNvSpPr/>
          <p:nvPr/>
        </p:nvSpPr>
        <p:spPr>
          <a:xfrm>
            <a:off x="11494008" y="2843784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: BEV grid"/>
          <p:cNvSpPr/>
          <p:nvPr/>
        </p:nvSpPr>
        <p:spPr>
          <a:xfrm>
            <a:off x="11622024" y="2843784"/>
            <a:ext cx="128016" cy="128016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: label"/>
          <p:cNvSpPr txBox="1"/>
          <p:nvPr/>
        </p:nvSpPr>
        <p:spPr>
          <a:xfrm>
            <a:off x="10954512" y="3063240"/>
            <a:ext cx="8686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062A62"/>
                </a:solidFill>
                <a:latin typeface="Aptos"/>
              </a:rPr>
              <a:t>6-class
Semantic Logits
100 × 100 × 25 × 6</a:t>
            </a:r>
          </a:p>
        </p:txBody>
      </p:sp>
      <p:sp>
        <p:nvSpPr>
          <p:cNvPr id="127" name="Edit: module"/>
          <p:cNvSpPr/>
          <p:nvPr/>
        </p:nvSpPr>
        <p:spPr>
          <a:xfrm>
            <a:off x="7973568" y="2926080"/>
            <a:ext cx="2240280" cy="347472"/>
          </a:xfrm>
          <a:prstGeom prst="roundRect">
            <a:avLst/>
          </a:prstGeom>
          <a:solidFill>
            <a:srgbClr val="DCD7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Multi-level Occupancy Supervision</a:t>
            </a:r>
          </a:p>
        </p:txBody>
      </p:sp>
      <p:cxnSp>
        <p:nvCxnSpPr>
          <p:cNvPr id="128" name="Edit: arrow"/>
          <p:cNvCxnSpPr/>
          <p:nvPr/>
        </p:nvCxnSpPr>
        <p:spPr>
          <a:xfrm>
            <a:off x="8001000" y="2423160"/>
            <a:ext cx="0" cy="502920"/>
          </a:xfrm>
          <a:prstGeom prst="line">
            <a:avLst/>
          </a:prstGeom>
          <a:ln w="19050">
            <a:solidFill>
              <a:srgbClr val="062A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dit: arrow"/>
          <p:cNvCxnSpPr/>
          <p:nvPr/>
        </p:nvCxnSpPr>
        <p:spPr>
          <a:xfrm>
            <a:off x="8823960" y="2423160"/>
            <a:ext cx="0" cy="502920"/>
          </a:xfrm>
          <a:prstGeom prst="line">
            <a:avLst/>
          </a:prstGeom>
          <a:ln w="19050">
            <a:solidFill>
              <a:srgbClr val="062A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Edit: arrow"/>
          <p:cNvCxnSpPr/>
          <p:nvPr/>
        </p:nvCxnSpPr>
        <p:spPr>
          <a:xfrm>
            <a:off x="9784080" y="2423160"/>
            <a:ext cx="0" cy="502920"/>
          </a:xfrm>
          <a:prstGeom prst="line">
            <a:avLst/>
          </a:prstGeom>
          <a:ln w="19050">
            <a:solidFill>
              <a:srgbClr val="062A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Edit: Agri-AMoE block"/>
          <p:cNvSpPr/>
          <p:nvPr/>
        </p:nvSpPr>
        <p:spPr>
          <a:xfrm>
            <a:off x="8458200" y="3794760"/>
            <a:ext cx="2057400" cy="150876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62A62"/>
                </a:solidFill>
                <a:latin typeface="Aptos"/>
              </a:rPr>
              <a:t>Agri-AMoE</a:t>
            </a:r>
          </a:p>
        </p:txBody>
      </p:sp>
      <p:sp>
        <p:nvSpPr>
          <p:cNvPr id="132" name="Edit: module"/>
          <p:cNvSpPr/>
          <p:nvPr/>
        </p:nvSpPr>
        <p:spPr>
          <a:xfrm>
            <a:off x="8613648" y="4370832"/>
            <a:ext cx="457200" cy="475488"/>
          </a:xfrm>
          <a:prstGeom prst="roundRect">
            <a:avLst/>
          </a:prstGeom>
          <a:solidFill>
            <a:srgbClr val="FFF2D7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Planar
Expert</a:t>
            </a:r>
          </a:p>
        </p:txBody>
      </p:sp>
      <p:sp>
        <p:nvSpPr>
          <p:cNvPr id="133" name="Edit: module"/>
          <p:cNvSpPr/>
          <p:nvPr/>
        </p:nvSpPr>
        <p:spPr>
          <a:xfrm>
            <a:off x="9189720" y="4370832"/>
            <a:ext cx="457200" cy="475488"/>
          </a:xfrm>
          <a:prstGeom prst="roundRect">
            <a:avLst/>
          </a:prstGeom>
          <a:solidFill>
            <a:srgbClr val="FFF2D7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Vertical
Expert</a:t>
            </a:r>
          </a:p>
        </p:txBody>
      </p:sp>
      <p:sp>
        <p:nvSpPr>
          <p:cNvPr id="134" name="Edit: module"/>
          <p:cNvSpPr/>
          <p:nvPr/>
        </p:nvSpPr>
        <p:spPr>
          <a:xfrm>
            <a:off x="9765792" y="4370832"/>
            <a:ext cx="457200" cy="475488"/>
          </a:xfrm>
          <a:prstGeom prst="roundRect">
            <a:avLst/>
          </a:prstGeom>
          <a:solidFill>
            <a:srgbClr val="FFF2D7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Context
Expert</a:t>
            </a:r>
          </a:p>
        </p:txBody>
      </p:sp>
      <p:pic>
        <p:nvPicPr>
          <p:cNvPr id="135" name="Reference Raster — delete to reveal editable reconstruction" descr="agriocc_overview_geovis_v2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: label"/>
          <p:cNvSpPr txBox="1"/>
          <p:nvPr/>
        </p:nvSpPr>
        <p:spPr>
          <a:xfrm>
            <a:off x="182880" y="91440"/>
            <a:ext cx="11823192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500" b="1">
                <a:solidFill>
                  <a:srgbClr val="062A62"/>
                </a:solidFill>
                <a:latin typeface="Aptos"/>
              </a:rPr>
              <a:t>GeoVis-BEV Encoder</a:t>
            </a:r>
          </a:p>
        </p:txBody>
      </p:sp>
      <p:sp>
        <p:nvSpPr>
          <p:cNvPr id="3" name="Edit: container"/>
          <p:cNvSpPr/>
          <p:nvPr/>
        </p:nvSpPr>
        <p:spPr>
          <a:xfrm>
            <a:off x="228600" y="685800"/>
            <a:ext cx="1874519" cy="5440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: container title"/>
          <p:cNvSpPr txBox="1"/>
          <p:nvPr/>
        </p:nvSpPr>
        <p:spPr>
          <a:xfrm>
            <a:off x="338328" y="731520"/>
            <a:ext cx="1655063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Multi-view Image Features</a:t>
            </a:r>
          </a:p>
        </p:txBody>
      </p:sp>
      <p:sp>
        <p:nvSpPr>
          <p:cNvPr id="5" name="Edit: module"/>
          <p:cNvSpPr/>
          <p:nvPr/>
        </p:nvSpPr>
        <p:spPr>
          <a:xfrm>
            <a:off x="502920" y="1188720"/>
            <a:ext cx="1234440" cy="68580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Front-Left</a:t>
            </a:r>
          </a:p>
        </p:txBody>
      </p:sp>
      <p:sp>
        <p:nvSpPr>
          <p:cNvPr id="6" name="Edit: module"/>
          <p:cNvSpPr/>
          <p:nvPr/>
        </p:nvSpPr>
        <p:spPr>
          <a:xfrm>
            <a:off x="502920" y="2423160"/>
            <a:ext cx="1234440" cy="68580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Front</a:t>
            </a:r>
          </a:p>
        </p:txBody>
      </p:sp>
      <p:sp>
        <p:nvSpPr>
          <p:cNvPr id="7" name="Edit: module"/>
          <p:cNvSpPr/>
          <p:nvPr/>
        </p:nvSpPr>
        <p:spPr>
          <a:xfrm>
            <a:off x="502920" y="3657600"/>
            <a:ext cx="1234440" cy="68580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Front-Right</a:t>
            </a:r>
          </a:p>
        </p:txBody>
      </p:sp>
      <p:sp>
        <p:nvSpPr>
          <p:cNvPr id="8" name="Edit: container"/>
          <p:cNvSpPr/>
          <p:nvPr/>
        </p:nvSpPr>
        <p:spPr>
          <a:xfrm>
            <a:off x="2331720" y="685800"/>
            <a:ext cx="1645920" cy="5440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: container title"/>
          <p:cNvSpPr txBox="1"/>
          <p:nvPr/>
        </p:nvSpPr>
        <p:spPr>
          <a:xfrm>
            <a:off x="2441448" y="731520"/>
            <a:ext cx="142646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ResNet-101 + FPN</a:t>
            </a:r>
          </a:p>
        </p:txBody>
      </p:sp>
      <p:sp>
        <p:nvSpPr>
          <p:cNvPr id="10" name="Edit: module"/>
          <p:cNvSpPr/>
          <p:nvPr/>
        </p:nvSpPr>
        <p:spPr>
          <a:xfrm>
            <a:off x="2606040" y="1234440"/>
            <a:ext cx="502920" cy="274320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: module"/>
          <p:cNvSpPr/>
          <p:nvPr/>
        </p:nvSpPr>
        <p:spPr>
          <a:xfrm>
            <a:off x="3264408" y="1234440"/>
            <a:ext cx="457200" cy="274320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P2</a:t>
            </a:r>
          </a:p>
        </p:txBody>
      </p:sp>
      <p:sp>
        <p:nvSpPr>
          <p:cNvPr id="12" name="Edit: module"/>
          <p:cNvSpPr/>
          <p:nvPr/>
        </p:nvSpPr>
        <p:spPr>
          <a:xfrm>
            <a:off x="2606040" y="1828800"/>
            <a:ext cx="502920" cy="274320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: module"/>
          <p:cNvSpPr/>
          <p:nvPr/>
        </p:nvSpPr>
        <p:spPr>
          <a:xfrm>
            <a:off x="3264408" y="1828800"/>
            <a:ext cx="457200" cy="274320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P3</a:t>
            </a:r>
          </a:p>
        </p:txBody>
      </p:sp>
      <p:sp>
        <p:nvSpPr>
          <p:cNvPr id="14" name="Edit: module"/>
          <p:cNvSpPr/>
          <p:nvPr/>
        </p:nvSpPr>
        <p:spPr>
          <a:xfrm>
            <a:off x="2606040" y="2423160"/>
            <a:ext cx="502920" cy="274320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: module"/>
          <p:cNvSpPr/>
          <p:nvPr/>
        </p:nvSpPr>
        <p:spPr>
          <a:xfrm>
            <a:off x="3264408" y="2423160"/>
            <a:ext cx="457200" cy="274320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P4</a:t>
            </a:r>
          </a:p>
        </p:txBody>
      </p:sp>
      <p:sp>
        <p:nvSpPr>
          <p:cNvPr id="16" name="Edit: module"/>
          <p:cNvSpPr/>
          <p:nvPr/>
        </p:nvSpPr>
        <p:spPr>
          <a:xfrm>
            <a:off x="2606040" y="3017520"/>
            <a:ext cx="502920" cy="274320"/>
          </a:xfrm>
          <a:prstGeom prst="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: module"/>
          <p:cNvSpPr/>
          <p:nvPr/>
        </p:nvSpPr>
        <p:spPr>
          <a:xfrm>
            <a:off x="3264408" y="3017520"/>
            <a:ext cx="457200" cy="274320"/>
          </a:xfrm>
          <a:prstGeom prst="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62A62"/>
                </a:solidFill>
                <a:latin typeface="Aptos"/>
              </a:rPr>
              <a:t>P5</a:t>
            </a:r>
          </a:p>
        </p:txBody>
      </p:sp>
      <p:sp>
        <p:nvSpPr>
          <p:cNvPr id="18" name="Edit: container"/>
          <p:cNvSpPr/>
          <p:nvPr/>
        </p:nvSpPr>
        <p:spPr>
          <a:xfrm>
            <a:off x="4251960" y="685800"/>
            <a:ext cx="4754880" cy="5440680"/>
          </a:xfrm>
          <a:prstGeom prst="roundRect">
            <a:avLst/>
          </a:prstGeom>
          <a:solidFill>
            <a:srgbClr val="F3FFF0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: container title"/>
          <p:cNvSpPr txBox="1"/>
          <p:nvPr/>
        </p:nvSpPr>
        <p:spPr>
          <a:xfrm>
            <a:off x="4361688" y="731520"/>
            <a:ext cx="45354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GeoVis-BEV Encoder (6 layers)</a:t>
            </a:r>
          </a:p>
        </p:txBody>
      </p:sp>
      <p:sp>
        <p:nvSpPr>
          <p:cNvPr id="20" name="Edit: module"/>
          <p:cNvSpPr/>
          <p:nvPr/>
        </p:nvSpPr>
        <p:spPr>
          <a:xfrm>
            <a:off x="4526280" y="1115568"/>
            <a:ext cx="4206240" cy="38404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062A62"/>
                </a:solidFill>
                <a:latin typeface="Aptos"/>
              </a:rPr>
              <a:t>NearFar Query Layout: Layers 1–5</a:t>
            </a:r>
          </a:p>
        </p:txBody>
      </p:sp>
      <p:sp>
        <p:nvSpPr>
          <p:cNvPr id="21" name="Edit: label"/>
          <p:cNvSpPr txBox="1"/>
          <p:nvPr/>
        </p:nvSpPr>
        <p:spPr>
          <a:xfrm>
            <a:off x="4425696" y="1783080"/>
            <a:ext cx="566928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Layer 1</a:t>
            </a:r>
          </a:p>
        </p:txBody>
      </p:sp>
      <p:sp>
        <p:nvSpPr>
          <p:cNvPr id="22" name="Edit: module"/>
          <p:cNvSpPr/>
          <p:nvPr/>
        </p:nvSpPr>
        <p:spPr>
          <a:xfrm>
            <a:off x="5029200" y="1783080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23" name="Edit: module"/>
          <p:cNvSpPr/>
          <p:nvPr/>
        </p:nvSpPr>
        <p:spPr>
          <a:xfrm>
            <a:off x="6035040" y="1783080"/>
            <a:ext cx="1325880" cy="310896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Image Cross-Attention</a:t>
            </a:r>
          </a:p>
        </p:txBody>
      </p:sp>
      <p:sp>
        <p:nvSpPr>
          <p:cNvPr id="24" name="Edit: module"/>
          <p:cNvSpPr/>
          <p:nvPr/>
        </p:nvSpPr>
        <p:spPr>
          <a:xfrm>
            <a:off x="7589520" y="1783080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sp>
        <p:nvSpPr>
          <p:cNvPr id="25" name="Edit: label"/>
          <p:cNvSpPr txBox="1"/>
          <p:nvPr/>
        </p:nvSpPr>
        <p:spPr>
          <a:xfrm>
            <a:off x="4425696" y="2295144"/>
            <a:ext cx="566928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Layer 2</a:t>
            </a:r>
          </a:p>
        </p:txBody>
      </p:sp>
      <p:sp>
        <p:nvSpPr>
          <p:cNvPr id="26" name="Edit: module"/>
          <p:cNvSpPr/>
          <p:nvPr/>
        </p:nvSpPr>
        <p:spPr>
          <a:xfrm>
            <a:off x="5029200" y="2295144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27" name="Edit: module"/>
          <p:cNvSpPr/>
          <p:nvPr/>
        </p:nvSpPr>
        <p:spPr>
          <a:xfrm>
            <a:off x="6035040" y="2295144"/>
            <a:ext cx="1325880" cy="310896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Image Cross-Attention</a:t>
            </a:r>
          </a:p>
        </p:txBody>
      </p:sp>
      <p:sp>
        <p:nvSpPr>
          <p:cNvPr id="28" name="Edit: module"/>
          <p:cNvSpPr/>
          <p:nvPr/>
        </p:nvSpPr>
        <p:spPr>
          <a:xfrm>
            <a:off x="7589520" y="2295144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sp>
        <p:nvSpPr>
          <p:cNvPr id="29" name="Edit: label"/>
          <p:cNvSpPr txBox="1"/>
          <p:nvPr/>
        </p:nvSpPr>
        <p:spPr>
          <a:xfrm>
            <a:off x="4425696" y="2807208"/>
            <a:ext cx="566928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Layer 3</a:t>
            </a:r>
          </a:p>
        </p:txBody>
      </p:sp>
      <p:sp>
        <p:nvSpPr>
          <p:cNvPr id="30" name="Edit: module"/>
          <p:cNvSpPr/>
          <p:nvPr/>
        </p:nvSpPr>
        <p:spPr>
          <a:xfrm>
            <a:off x="5029200" y="2807208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31" name="Edit: module"/>
          <p:cNvSpPr/>
          <p:nvPr/>
        </p:nvSpPr>
        <p:spPr>
          <a:xfrm>
            <a:off x="6035040" y="2807208"/>
            <a:ext cx="1325880" cy="310896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Image Cross-Attention</a:t>
            </a:r>
          </a:p>
        </p:txBody>
      </p:sp>
      <p:sp>
        <p:nvSpPr>
          <p:cNvPr id="32" name="Edit: module"/>
          <p:cNvSpPr/>
          <p:nvPr/>
        </p:nvSpPr>
        <p:spPr>
          <a:xfrm>
            <a:off x="7589520" y="2807208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sp>
        <p:nvSpPr>
          <p:cNvPr id="33" name="Edit: label"/>
          <p:cNvSpPr txBox="1"/>
          <p:nvPr/>
        </p:nvSpPr>
        <p:spPr>
          <a:xfrm>
            <a:off x="4425696" y="3319272"/>
            <a:ext cx="566928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Layer 4</a:t>
            </a:r>
          </a:p>
        </p:txBody>
      </p:sp>
      <p:sp>
        <p:nvSpPr>
          <p:cNvPr id="34" name="Edit: module"/>
          <p:cNvSpPr/>
          <p:nvPr/>
        </p:nvSpPr>
        <p:spPr>
          <a:xfrm>
            <a:off x="5029200" y="3319272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35" name="Edit: module"/>
          <p:cNvSpPr/>
          <p:nvPr/>
        </p:nvSpPr>
        <p:spPr>
          <a:xfrm>
            <a:off x="6035040" y="3319272"/>
            <a:ext cx="1325880" cy="310896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Image Cross-Attention</a:t>
            </a:r>
          </a:p>
        </p:txBody>
      </p:sp>
      <p:sp>
        <p:nvSpPr>
          <p:cNvPr id="36" name="Edit: module"/>
          <p:cNvSpPr/>
          <p:nvPr/>
        </p:nvSpPr>
        <p:spPr>
          <a:xfrm>
            <a:off x="7589520" y="3319272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sp>
        <p:nvSpPr>
          <p:cNvPr id="37" name="Edit: label"/>
          <p:cNvSpPr txBox="1"/>
          <p:nvPr/>
        </p:nvSpPr>
        <p:spPr>
          <a:xfrm>
            <a:off x="4425696" y="3831336"/>
            <a:ext cx="566928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Layer 5</a:t>
            </a:r>
          </a:p>
        </p:txBody>
      </p:sp>
      <p:sp>
        <p:nvSpPr>
          <p:cNvPr id="38" name="Edit: module"/>
          <p:cNvSpPr/>
          <p:nvPr/>
        </p:nvSpPr>
        <p:spPr>
          <a:xfrm>
            <a:off x="5029200" y="3831336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39" name="Edit: module"/>
          <p:cNvSpPr/>
          <p:nvPr/>
        </p:nvSpPr>
        <p:spPr>
          <a:xfrm>
            <a:off x="6035040" y="3831336"/>
            <a:ext cx="1325880" cy="310896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Image Cross-Attention</a:t>
            </a:r>
          </a:p>
        </p:txBody>
      </p:sp>
      <p:sp>
        <p:nvSpPr>
          <p:cNvPr id="40" name="Edit: module"/>
          <p:cNvSpPr/>
          <p:nvPr/>
        </p:nvSpPr>
        <p:spPr>
          <a:xfrm>
            <a:off x="7589520" y="3831336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sp>
        <p:nvSpPr>
          <p:cNvPr id="41" name="Edit: module"/>
          <p:cNvSpPr/>
          <p:nvPr/>
        </p:nvSpPr>
        <p:spPr>
          <a:xfrm>
            <a:off x="4754880" y="4480560"/>
            <a:ext cx="3657600" cy="347472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Bilinear Restore to Dense BEV Grid</a:t>
            </a:r>
          </a:p>
        </p:txBody>
      </p:sp>
      <p:sp>
        <p:nvSpPr>
          <p:cNvPr id="42" name="Edit: label"/>
          <p:cNvSpPr txBox="1"/>
          <p:nvPr/>
        </p:nvSpPr>
        <p:spPr>
          <a:xfrm>
            <a:off x="4425696" y="5047488"/>
            <a:ext cx="566928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Layer 6</a:t>
            </a:r>
          </a:p>
        </p:txBody>
      </p:sp>
      <p:sp>
        <p:nvSpPr>
          <p:cNvPr id="43" name="Edit: module"/>
          <p:cNvSpPr/>
          <p:nvPr/>
        </p:nvSpPr>
        <p:spPr>
          <a:xfrm>
            <a:off x="5029200" y="5047488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GVAD</a:t>
            </a:r>
          </a:p>
        </p:txBody>
      </p:sp>
      <p:sp>
        <p:nvSpPr>
          <p:cNvPr id="44" name="Edit: module"/>
          <p:cNvSpPr/>
          <p:nvPr/>
        </p:nvSpPr>
        <p:spPr>
          <a:xfrm>
            <a:off x="6035040" y="5047488"/>
            <a:ext cx="1325880" cy="310896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Image Cross-Attention</a:t>
            </a:r>
          </a:p>
        </p:txBody>
      </p:sp>
      <p:sp>
        <p:nvSpPr>
          <p:cNvPr id="45" name="Edit: module"/>
          <p:cNvSpPr/>
          <p:nvPr/>
        </p:nvSpPr>
        <p:spPr>
          <a:xfrm>
            <a:off x="7589520" y="5047488"/>
            <a:ext cx="777240" cy="310896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062A62"/>
                </a:solidFill>
                <a:latin typeface="Aptos"/>
              </a:rPr>
              <a:t>FFN</a:t>
            </a:r>
          </a:p>
        </p:txBody>
      </p:sp>
      <p:sp>
        <p:nvSpPr>
          <p:cNvPr id="46" name="Edit: container"/>
          <p:cNvSpPr/>
          <p:nvPr/>
        </p:nvSpPr>
        <p:spPr>
          <a:xfrm>
            <a:off x="9235440" y="685800"/>
            <a:ext cx="2697480" cy="5440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: container title"/>
          <p:cNvSpPr txBox="1"/>
          <p:nvPr/>
        </p:nvSpPr>
        <p:spPr>
          <a:xfrm>
            <a:off x="9345167" y="731520"/>
            <a:ext cx="24780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Dense BEV Output</a:t>
            </a:r>
          </a:p>
        </p:txBody>
      </p:sp>
      <p:sp>
        <p:nvSpPr>
          <p:cNvPr id="48" name="Edit: BEV grid"/>
          <p:cNvSpPr/>
          <p:nvPr/>
        </p:nvSpPr>
        <p:spPr>
          <a:xfrm>
            <a:off x="9893808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: BEV grid"/>
          <p:cNvSpPr/>
          <p:nvPr/>
        </p:nvSpPr>
        <p:spPr>
          <a:xfrm>
            <a:off x="10067544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: BEV grid"/>
          <p:cNvSpPr/>
          <p:nvPr/>
        </p:nvSpPr>
        <p:spPr>
          <a:xfrm>
            <a:off x="10241280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: BEV grid"/>
          <p:cNvSpPr/>
          <p:nvPr/>
        </p:nvSpPr>
        <p:spPr>
          <a:xfrm>
            <a:off x="10415016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: BEV grid"/>
          <p:cNvSpPr/>
          <p:nvPr/>
        </p:nvSpPr>
        <p:spPr>
          <a:xfrm>
            <a:off x="10588752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: BEV grid"/>
          <p:cNvSpPr/>
          <p:nvPr/>
        </p:nvSpPr>
        <p:spPr>
          <a:xfrm>
            <a:off x="10762488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: BEV grid"/>
          <p:cNvSpPr/>
          <p:nvPr/>
        </p:nvSpPr>
        <p:spPr>
          <a:xfrm>
            <a:off x="10936224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: BEV grid"/>
          <p:cNvSpPr/>
          <p:nvPr/>
        </p:nvSpPr>
        <p:spPr>
          <a:xfrm>
            <a:off x="11109960" y="192024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: BEV grid"/>
          <p:cNvSpPr/>
          <p:nvPr/>
        </p:nvSpPr>
        <p:spPr>
          <a:xfrm>
            <a:off x="9893808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: BEV grid"/>
          <p:cNvSpPr/>
          <p:nvPr/>
        </p:nvSpPr>
        <p:spPr>
          <a:xfrm>
            <a:off x="10067544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: BEV grid"/>
          <p:cNvSpPr/>
          <p:nvPr/>
        </p:nvSpPr>
        <p:spPr>
          <a:xfrm>
            <a:off x="10241280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: BEV grid"/>
          <p:cNvSpPr/>
          <p:nvPr/>
        </p:nvSpPr>
        <p:spPr>
          <a:xfrm>
            <a:off x="10415016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: BEV grid"/>
          <p:cNvSpPr/>
          <p:nvPr/>
        </p:nvSpPr>
        <p:spPr>
          <a:xfrm>
            <a:off x="10588752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: BEV grid"/>
          <p:cNvSpPr/>
          <p:nvPr/>
        </p:nvSpPr>
        <p:spPr>
          <a:xfrm>
            <a:off x="10762488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: BEV grid"/>
          <p:cNvSpPr/>
          <p:nvPr/>
        </p:nvSpPr>
        <p:spPr>
          <a:xfrm>
            <a:off x="10936224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: BEV grid"/>
          <p:cNvSpPr/>
          <p:nvPr/>
        </p:nvSpPr>
        <p:spPr>
          <a:xfrm>
            <a:off x="11109960" y="209397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: BEV grid"/>
          <p:cNvSpPr/>
          <p:nvPr/>
        </p:nvSpPr>
        <p:spPr>
          <a:xfrm>
            <a:off x="9893808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: BEV grid"/>
          <p:cNvSpPr/>
          <p:nvPr/>
        </p:nvSpPr>
        <p:spPr>
          <a:xfrm>
            <a:off x="10067544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: BEV grid"/>
          <p:cNvSpPr/>
          <p:nvPr/>
        </p:nvSpPr>
        <p:spPr>
          <a:xfrm>
            <a:off x="10241280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: BEV grid"/>
          <p:cNvSpPr/>
          <p:nvPr/>
        </p:nvSpPr>
        <p:spPr>
          <a:xfrm>
            <a:off x="10415016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: BEV grid"/>
          <p:cNvSpPr/>
          <p:nvPr/>
        </p:nvSpPr>
        <p:spPr>
          <a:xfrm>
            <a:off x="10588752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: BEV grid"/>
          <p:cNvSpPr/>
          <p:nvPr/>
        </p:nvSpPr>
        <p:spPr>
          <a:xfrm>
            <a:off x="10762488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: BEV grid"/>
          <p:cNvSpPr/>
          <p:nvPr/>
        </p:nvSpPr>
        <p:spPr>
          <a:xfrm>
            <a:off x="10936224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: BEV grid"/>
          <p:cNvSpPr/>
          <p:nvPr/>
        </p:nvSpPr>
        <p:spPr>
          <a:xfrm>
            <a:off x="11109960" y="226771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: BEV grid"/>
          <p:cNvSpPr/>
          <p:nvPr/>
        </p:nvSpPr>
        <p:spPr>
          <a:xfrm>
            <a:off x="9893808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: BEV grid"/>
          <p:cNvSpPr/>
          <p:nvPr/>
        </p:nvSpPr>
        <p:spPr>
          <a:xfrm>
            <a:off x="10067544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: BEV grid"/>
          <p:cNvSpPr/>
          <p:nvPr/>
        </p:nvSpPr>
        <p:spPr>
          <a:xfrm>
            <a:off x="10241280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: BEV grid"/>
          <p:cNvSpPr/>
          <p:nvPr/>
        </p:nvSpPr>
        <p:spPr>
          <a:xfrm>
            <a:off x="10415016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: BEV grid"/>
          <p:cNvSpPr/>
          <p:nvPr/>
        </p:nvSpPr>
        <p:spPr>
          <a:xfrm>
            <a:off x="10588752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: BEV grid"/>
          <p:cNvSpPr/>
          <p:nvPr/>
        </p:nvSpPr>
        <p:spPr>
          <a:xfrm>
            <a:off x="10762488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: BEV grid"/>
          <p:cNvSpPr/>
          <p:nvPr/>
        </p:nvSpPr>
        <p:spPr>
          <a:xfrm>
            <a:off x="10936224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: BEV grid"/>
          <p:cNvSpPr/>
          <p:nvPr/>
        </p:nvSpPr>
        <p:spPr>
          <a:xfrm>
            <a:off x="11109960" y="244144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: BEV grid"/>
          <p:cNvSpPr/>
          <p:nvPr/>
        </p:nvSpPr>
        <p:spPr>
          <a:xfrm>
            <a:off x="9893808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: BEV grid"/>
          <p:cNvSpPr/>
          <p:nvPr/>
        </p:nvSpPr>
        <p:spPr>
          <a:xfrm>
            <a:off x="10067544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: BEV grid"/>
          <p:cNvSpPr/>
          <p:nvPr/>
        </p:nvSpPr>
        <p:spPr>
          <a:xfrm>
            <a:off x="10241280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: BEV grid"/>
          <p:cNvSpPr/>
          <p:nvPr/>
        </p:nvSpPr>
        <p:spPr>
          <a:xfrm>
            <a:off x="10415016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: BEV grid"/>
          <p:cNvSpPr/>
          <p:nvPr/>
        </p:nvSpPr>
        <p:spPr>
          <a:xfrm>
            <a:off x="10588752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: BEV grid"/>
          <p:cNvSpPr/>
          <p:nvPr/>
        </p:nvSpPr>
        <p:spPr>
          <a:xfrm>
            <a:off x="10762488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: BEV grid"/>
          <p:cNvSpPr/>
          <p:nvPr/>
        </p:nvSpPr>
        <p:spPr>
          <a:xfrm>
            <a:off x="10936224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: BEV grid"/>
          <p:cNvSpPr/>
          <p:nvPr/>
        </p:nvSpPr>
        <p:spPr>
          <a:xfrm>
            <a:off x="11109960" y="261518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: BEV grid"/>
          <p:cNvSpPr/>
          <p:nvPr/>
        </p:nvSpPr>
        <p:spPr>
          <a:xfrm>
            <a:off x="9893808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: BEV grid"/>
          <p:cNvSpPr/>
          <p:nvPr/>
        </p:nvSpPr>
        <p:spPr>
          <a:xfrm>
            <a:off x="10067544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: BEV grid"/>
          <p:cNvSpPr/>
          <p:nvPr/>
        </p:nvSpPr>
        <p:spPr>
          <a:xfrm>
            <a:off x="10241280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: BEV grid"/>
          <p:cNvSpPr/>
          <p:nvPr/>
        </p:nvSpPr>
        <p:spPr>
          <a:xfrm>
            <a:off x="10415016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: BEV grid"/>
          <p:cNvSpPr/>
          <p:nvPr/>
        </p:nvSpPr>
        <p:spPr>
          <a:xfrm>
            <a:off x="10588752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: BEV grid"/>
          <p:cNvSpPr/>
          <p:nvPr/>
        </p:nvSpPr>
        <p:spPr>
          <a:xfrm>
            <a:off x="10762488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: BEV grid"/>
          <p:cNvSpPr/>
          <p:nvPr/>
        </p:nvSpPr>
        <p:spPr>
          <a:xfrm>
            <a:off x="10936224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: BEV grid"/>
          <p:cNvSpPr/>
          <p:nvPr/>
        </p:nvSpPr>
        <p:spPr>
          <a:xfrm>
            <a:off x="11109960" y="278892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: label"/>
          <p:cNvSpPr txBox="1"/>
          <p:nvPr/>
        </p:nvSpPr>
        <p:spPr>
          <a:xfrm>
            <a:off x="9454896" y="3337560"/>
            <a:ext cx="22860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Dense BEV Tokens
100 × 100 × 256</a:t>
            </a:r>
          </a:p>
        </p:txBody>
      </p:sp>
      <p:cxnSp>
        <p:nvCxnSpPr>
          <p:cNvPr id="97" name="Edit: arrow"/>
          <p:cNvCxnSpPr/>
          <p:nvPr/>
        </p:nvCxnSpPr>
        <p:spPr>
          <a:xfrm>
            <a:off x="2103120" y="3291840"/>
            <a:ext cx="22860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dit: arrow"/>
          <p:cNvCxnSpPr/>
          <p:nvPr/>
        </p:nvCxnSpPr>
        <p:spPr>
          <a:xfrm>
            <a:off x="3977639" y="3291840"/>
            <a:ext cx="274321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dit: arrow"/>
          <p:cNvCxnSpPr/>
          <p:nvPr/>
        </p:nvCxnSpPr>
        <p:spPr>
          <a:xfrm>
            <a:off x="9006840" y="3291840"/>
            <a:ext cx="22860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Reference Raster — delete to reveal editable reconstruction" descr="geovis_bev_encoder_overview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: label"/>
          <p:cNvSpPr txBox="1"/>
          <p:nvPr/>
        </p:nvSpPr>
        <p:spPr>
          <a:xfrm>
            <a:off x="182880" y="91440"/>
            <a:ext cx="11823192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062A62"/>
                </a:solidFill>
                <a:latin typeface="Aptos"/>
              </a:rPr>
              <a:t>Geometry-visible Anchor Deformable Attention (GVAD)</a:t>
            </a:r>
          </a:p>
        </p:txBody>
      </p:sp>
      <p:sp>
        <p:nvSpPr>
          <p:cNvPr id="3" name="Edit: module"/>
          <p:cNvSpPr/>
          <p:nvPr/>
        </p:nvSpPr>
        <p:spPr>
          <a:xfrm>
            <a:off x="320040" y="2606040"/>
            <a:ext cx="1097280" cy="566928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BEV Query
q + position</a:t>
            </a:r>
          </a:p>
        </p:txBody>
      </p:sp>
      <p:sp>
        <p:nvSpPr>
          <p:cNvPr id="4" name="Edit: module"/>
          <p:cNvSpPr/>
          <p:nvPr/>
        </p:nvSpPr>
        <p:spPr>
          <a:xfrm>
            <a:off x="320040" y="1325880"/>
            <a:ext cx="1097280" cy="566928"/>
          </a:xfrm>
          <a:prstGeom prst="roundRect">
            <a:avLst/>
          </a:prstGeom>
          <a:solidFill>
            <a:srgbClr val="EEF2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Camera Projection
Mask</a:t>
            </a:r>
          </a:p>
        </p:txBody>
      </p:sp>
      <p:cxnSp>
        <p:nvCxnSpPr>
          <p:cNvPr id="5" name="Edit: arrow"/>
          <p:cNvCxnSpPr/>
          <p:nvPr/>
        </p:nvCxnSpPr>
        <p:spPr>
          <a:xfrm flipV="1">
            <a:off x="868680" y="1892807"/>
            <a:ext cx="0" cy="713233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dit: module"/>
          <p:cNvSpPr/>
          <p:nvPr/>
        </p:nvSpPr>
        <p:spPr>
          <a:xfrm>
            <a:off x="1719072" y="1325880"/>
            <a:ext cx="1143000" cy="56692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Visibility
m</a:t>
            </a:r>
          </a:p>
        </p:txBody>
      </p:sp>
      <p:cxnSp>
        <p:nvCxnSpPr>
          <p:cNvPr id="7" name="Edit: arrow"/>
          <p:cNvCxnSpPr/>
          <p:nvPr/>
        </p:nvCxnSpPr>
        <p:spPr>
          <a:xfrm>
            <a:off x="1417320" y="1609344"/>
            <a:ext cx="301752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dit: container"/>
          <p:cNvSpPr/>
          <p:nvPr/>
        </p:nvSpPr>
        <p:spPr>
          <a:xfrm>
            <a:off x="1737360" y="2240280"/>
            <a:ext cx="4251960" cy="3337560"/>
          </a:xfrm>
          <a:prstGeom prst="roundRect">
            <a:avLst/>
          </a:prstGeom>
          <a:solidFill>
            <a:srgbClr val="F6FB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: container title"/>
          <p:cNvSpPr txBox="1"/>
          <p:nvPr/>
        </p:nvSpPr>
        <p:spPr>
          <a:xfrm>
            <a:off x="1847088" y="2286000"/>
            <a:ext cx="403250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Local Deformable Path</a:t>
            </a:r>
          </a:p>
        </p:txBody>
      </p:sp>
      <p:sp>
        <p:nvSpPr>
          <p:cNvPr id="10" name="Edit: module"/>
          <p:cNvSpPr/>
          <p:nvPr/>
        </p:nvSpPr>
        <p:spPr>
          <a:xfrm>
            <a:off x="2057400" y="2834640"/>
            <a:ext cx="1005840" cy="566928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Offset &amp; Weight
Prediction</a:t>
            </a:r>
          </a:p>
        </p:txBody>
      </p:sp>
      <p:sp>
        <p:nvSpPr>
          <p:cNvPr id="11" name="Edit: module"/>
          <p:cNvSpPr/>
          <p:nvPr/>
        </p:nvSpPr>
        <p:spPr>
          <a:xfrm>
            <a:off x="3429000" y="2834640"/>
            <a:ext cx="960120" cy="566928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4 sampling
points × 8 heads</a:t>
            </a:r>
          </a:p>
        </p:txBody>
      </p:sp>
      <p:sp>
        <p:nvSpPr>
          <p:cNvPr id="12" name="Edit: module"/>
          <p:cNvSpPr/>
          <p:nvPr/>
        </p:nvSpPr>
        <p:spPr>
          <a:xfrm>
            <a:off x="4709160" y="2834640"/>
            <a:ext cx="914400" cy="566928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Local
Update d</a:t>
            </a:r>
          </a:p>
        </p:txBody>
      </p:sp>
      <p:cxnSp>
        <p:nvCxnSpPr>
          <p:cNvPr id="13" name="Edit: arrow"/>
          <p:cNvCxnSpPr/>
          <p:nvPr/>
        </p:nvCxnSpPr>
        <p:spPr>
          <a:xfrm>
            <a:off x="1417320" y="2880360"/>
            <a:ext cx="640080" cy="22860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it: arrow"/>
          <p:cNvCxnSpPr/>
          <p:nvPr/>
        </p:nvCxnSpPr>
        <p:spPr>
          <a:xfrm>
            <a:off x="3063240" y="3108960"/>
            <a:ext cx="36576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dit: arrow"/>
          <p:cNvCxnSpPr/>
          <p:nvPr/>
        </p:nvCxnSpPr>
        <p:spPr>
          <a:xfrm>
            <a:off x="4389120" y="3108960"/>
            <a:ext cx="32004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it: container"/>
          <p:cNvSpPr/>
          <p:nvPr/>
        </p:nvSpPr>
        <p:spPr>
          <a:xfrm>
            <a:off x="6217920" y="914400"/>
            <a:ext cx="3063240" cy="3703320"/>
          </a:xfrm>
          <a:prstGeom prst="roundRect">
            <a:avLst/>
          </a:prstGeom>
          <a:solidFill>
            <a:srgbClr val="FFF9F0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: container title"/>
          <p:cNvSpPr txBox="1"/>
          <p:nvPr/>
        </p:nvSpPr>
        <p:spPr>
          <a:xfrm>
            <a:off x="6327648" y="960120"/>
            <a:ext cx="284378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Geometry-visible Anchor Path</a:t>
            </a:r>
          </a:p>
        </p:txBody>
      </p:sp>
      <p:sp>
        <p:nvSpPr>
          <p:cNvPr id="18" name="Edit: module"/>
          <p:cNvSpPr/>
          <p:nvPr/>
        </p:nvSpPr>
        <p:spPr>
          <a:xfrm>
            <a:off x="6510528" y="1508760"/>
            <a:ext cx="1005840" cy="548640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4 × 8 BEV
Anchor Grid</a:t>
            </a:r>
          </a:p>
        </p:txBody>
      </p:sp>
      <p:sp>
        <p:nvSpPr>
          <p:cNvPr id="19" name="Edit: module"/>
          <p:cNvSpPr/>
          <p:nvPr/>
        </p:nvSpPr>
        <p:spPr>
          <a:xfrm>
            <a:off x="7790688" y="1508760"/>
            <a:ext cx="1078992" cy="548640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Confidence +
log Visibility</a:t>
            </a:r>
          </a:p>
        </p:txBody>
      </p:sp>
      <p:sp>
        <p:nvSpPr>
          <p:cNvPr id="20" name="Edit: module"/>
          <p:cNvSpPr/>
          <p:nvPr/>
        </p:nvSpPr>
        <p:spPr>
          <a:xfrm>
            <a:off x="6510528" y="2514600"/>
            <a:ext cx="1005840" cy="548640"/>
          </a:xfrm>
          <a:prstGeom prst="round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32 Visible
Anchors</a:t>
            </a:r>
          </a:p>
        </p:txBody>
      </p:sp>
      <p:sp>
        <p:nvSpPr>
          <p:cNvPr id="21" name="Edit: module"/>
          <p:cNvSpPr/>
          <p:nvPr/>
        </p:nvSpPr>
        <p:spPr>
          <a:xfrm>
            <a:off x="7790688" y="2514600"/>
            <a:ext cx="1078992" cy="54864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062A62"/>
                </a:solidFill>
                <a:latin typeface="Aptos"/>
              </a:rPr>
              <a:t>Distance-biased
Attention</a:t>
            </a:r>
          </a:p>
        </p:txBody>
      </p:sp>
      <p:sp>
        <p:nvSpPr>
          <p:cNvPr id="22" name="Edit: module"/>
          <p:cNvSpPr/>
          <p:nvPr/>
        </p:nvSpPr>
        <p:spPr>
          <a:xfrm>
            <a:off x="7150608" y="3520440"/>
            <a:ext cx="1115568" cy="54864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Anchor
Context g</a:t>
            </a:r>
          </a:p>
        </p:txBody>
      </p:sp>
      <p:cxnSp>
        <p:nvCxnSpPr>
          <p:cNvPr id="23" name="Edit: arrow"/>
          <p:cNvCxnSpPr/>
          <p:nvPr/>
        </p:nvCxnSpPr>
        <p:spPr>
          <a:xfrm>
            <a:off x="7516368" y="1783080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dit: arrow"/>
          <p:cNvCxnSpPr/>
          <p:nvPr/>
        </p:nvCxnSpPr>
        <p:spPr>
          <a:xfrm>
            <a:off x="7013448" y="2057400"/>
            <a:ext cx="0" cy="45720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dit: arrow"/>
          <p:cNvCxnSpPr/>
          <p:nvPr/>
        </p:nvCxnSpPr>
        <p:spPr>
          <a:xfrm>
            <a:off x="8321040" y="2057400"/>
            <a:ext cx="0" cy="45720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dit: arrow"/>
          <p:cNvCxnSpPr/>
          <p:nvPr/>
        </p:nvCxnSpPr>
        <p:spPr>
          <a:xfrm>
            <a:off x="7516368" y="3063240"/>
            <a:ext cx="164592" cy="45720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dit: arrow"/>
          <p:cNvCxnSpPr/>
          <p:nvPr/>
        </p:nvCxnSpPr>
        <p:spPr>
          <a:xfrm flipH="1">
            <a:off x="7680960" y="3063240"/>
            <a:ext cx="640080" cy="45720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it: module"/>
          <p:cNvSpPr/>
          <p:nvPr/>
        </p:nvSpPr>
        <p:spPr>
          <a:xfrm>
            <a:off x="9646920" y="2514600"/>
            <a:ext cx="1051560" cy="65836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Visibility Gate
σ(fg[q,m])</a:t>
            </a:r>
          </a:p>
        </p:txBody>
      </p:sp>
      <p:sp>
        <p:nvSpPr>
          <p:cNvPr id="29" name="Edit: module"/>
          <p:cNvSpPr/>
          <p:nvPr/>
        </p:nvSpPr>
        <p:spPr>
          <a:xfrm>
            <a:off x="10954512" y="2514600"/>
            <a:ext cx="960120" cy="658368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Residual
Fusion</a:t>
            </a:r>
          </a:p>
        </p:txBody>
      </p:sp>
      <p:cxnSp>
        <p:nvCxnSpPr>
          <p:cNvPr id="30" name="Edit: arrow"/>
          <p:cNvCxnSpPr/>
          <p:nvPr/>
        </p:nvCxnSpPr>
        <p:spPr>
          <a:xfrm flipV="1">
            <a:off x="5623560" y="2834640"/>
            <a:ext cx="4023360" cy="27432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dit: arrow"/>
          <p:cNvCxnSpPr/>
          <p:nvPr/>
        </p:nvCxnSpPr>
        <p:spPr>
          <a:xfrm flipV="1">
            <a:off x="8229600" y="3063240"/>
            <a:ext cx="1417320" cy="100584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dit: arrow"/>
          <p:cNvCxnSpPr/>
          <p:nvPr/>
        </p:nvCxnSpPr>
        <p:spPr>
          <a:xfrm>
            <a:off x="10698480" y="2834640"/>
            <a:ext cx="256032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dit: module"/>
          <p:cNvSpPr/>
          <p:nvPr/>
        </p:nvSpPr>
        <p:spPr>
          <a:xfrm>
            <a:off x="10762488" y="3886200"/>
            <a:ext cx="1234440" cy="548640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Enhanced
BEV Token q′</a:t>
            </a:r>
          </a:p>
        </p:txBody>
      </p:sp>
      <p:cxnSp>
        <p:nvCxnSpPr>
          <p:cNvPr id="34" name="Edit: arrow"/>
          <p:cNvCxnSpPr/>
          <p:nvPr/>
        </p:nvCxnSpPr>
        <p:spPr>
          <a:xfrm>
            <a:off x="11430000" y="3172968"/>
            <a:ext cx="0" cy="713232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Reference Raster — delete to reveal editable reconstruction" descr="gvad_detailed_architecture_v2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: label"/>
          <p:cNvSpPr txBox="1"/>
          <p:nvPr/>
        </p:nvSpPr>
        <p:spPr>
          <a:xfrm>
            <a:off x="182880" y="91440"/>
            <a:ext cx="11823192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500" b="1">
                <a:solidFill>
                  <a:srgbClr val="062A62"/>
                </a:solidFill>
                <a:latin typeface="Aptos"/>
              </a:rPr>
              <a:t>NearFar BEV Query Layout</a:t>
            </a:r>
          </a:p>
        </p:txBody>
      </p:sp>
      <p:sp>
        <p:nvSpPr>
          <p:cNvPr id="3" name="Edit: container"/>
          <p:cNvSpPr/>
          <p:nvPr/>
        </p:nvSpPr>
        <p:spPr>
          <a:xfrm>
            <a:off x="320040" y="914400"/>
            <a:ext cx="2286000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: container title"/>
          <p:cNvSpPr txBox="1"/>
          <p:nvPr/>
        </p:nvSpPr>
        <p:spPr>
          <a:xfrm>
            <a:off x="429768" y="960120"/>
            <a:ext cx="2066543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1. Query Selection</a:t>
            </a:r>
          </a:p>
        </p:txBody>
      </p:sp>
      <p:sp>
        <p:nvSpPr>
          <p:cNvPr id="5" name="Edit: BEV grid"/>
          <p:cNvSpPr/>
          <p:nvPr/>
        </p:nvSpPr>
        <p:spPr>
          <a:xfrm>
            <a:off x="658368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: BEV grid"/>
          <p:cNvSpPr/>
          <p:nvPr/>
        </p:nvSpPr>
        <p:spPr>
          <a:xfrm>
            <a:off x="841247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: BEV grid"/>
          <p:cNvSpPr/>
          <p:nvPr/>
        </p:nvSpPr>
        <p:spPr>
          <a:xfrm>
            <a:off x="1024128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: BEV grid"/>
          <p:cNvSpPr/>
          <p:nvPr/>
        </p:nvSpPr>
        <p:spPr>
          <a:xfrm>
            <a:off x="1207008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: BEV grid"/>
          <p:cNvSpPr/>
          <p:nvPr/>
        </p:nvSpPr>
        <p:spPr>
          <a:xfrm>
            <a:off x="1389888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: BEV grid"/>
          <p:cNvSpPr/>
          <p:nvPr/>
        </p:nvSpPr>
        <p:spPr>
          <a:xfrm>
            <a:off x="1572768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: BEV grid"/>
          <p:cNvSpPr/>
          <p:nvPr/>
        </p:nvSpPr>
        <p:spPr>
          <a:xfrm>
            <a:off x="1755648" y="16002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: BEV grid"/>
          <p:cNvSpPr/>
          <p:nvPr/>
        </p:nvSpPr>
        <p:spPr>
          <a:xfrm>
            <a:off x="658368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: BEV grid"/>
          <p:cNvSpPr/>
          <p:nvPr/>
        </p:nvSpPr>
        <p:spPr>
          <a:xfrm>
            <a:off x="841247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: BEV grid"/>
          <p:cNvSpPr/>
          <p:nvPr/>
        </p:nvSpPr>
        <p:spPr>
          <a:xfrm>
            <a:off x="1024128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: BEV grid"/>
          <p:cNvSpPr/>
          <p:nvPr/>
        </p:nvSpPr>
        <p:spPr>
          <a:xfrm>
            <a:off x="1207008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: BEV grid"/>
          <p:cNvSpPr/>
          <p:nvPr/>
        </p:nvSpPr>
        <p:spPr>
          <a:xfrm>
            <a:off x="1389888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: BEV grid"/>
          <p:cNvSpPr/>
          <p:nvPr/>
        </p:nvSpPr>
        <p:spPr>
          <a:xfrm>
            <a:off x="1572768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: BEV grid"/>
          <p:cNvSpPr/>
          <p:nvPr/>
        </p:nvSpPr>
        <p:spPr>
          <a:xfrm>
            <a:off x="1755648" y="17830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: BEV grid"/>
          <p:cNvSpPr/>
          <p:nvPr/>
        </p:nvSpPr>
        <p:spPr>
          <a:xfrm>
            <a:off x="658368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: BEV grid"/>
          <p:cNvSpPr/>
          <p:nvPr/>
        </p:nvSpPr>
        <p:spPr>
          <a:xfrm>
            <a:off x="841247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: BEV grid"/>
          <p:cNvSpPr/>
          <p:nvPr/>
        </p:nvSpPr>
        <p:spPr>
          <a:xfrm>
            <a:off x="1024128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: BEV grid"/>
          <p:cNvSpPr/>
          <p:nvPr/>
        </p:nvSpPr>
        <p:spPr>
          <a:xfrm>
            <a:off x="1207008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: BEV grid"/>
          <p:cNvSpPr/>
          <p:nvPr/>
        </p:nvSpPr>
        <p:spPr>
          <a:xfrm>
            <a:off x="1389888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: BEV grid"/>
          <p:cNvSpPr/>
          <p:nvPr/>
        </p:nvSpPr>
        <p:spPr>
          <a:xfrm>
            <a:off x="1572768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: BEV grid"/>
          <p:cNvSpPr/>
          <p:nvPr/>
        </p:nvSpPr>
        <p:spPr>
          <a:xfrm>
            <a:off x="1755648" y="19659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: BEV grid"/>
          <p:cNvSpPr/>
          <p:nvPr/>
        </p:nvSpPr>
        <p:spPr>
          <a:xfrm>
            <a:off x="658368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: BEV grid"/>
          <p:cNvSpPr/>
          <p:nvPr/>
        </p:nvSpPr>
        <p:spPr>
          <a:xfrm>
            <a:off x="841247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: BEV grid"/>
          <p:cNvSpPr/>
          <p:nvPr/>
        </p:nvSpPr>
        <p:spPr>
          <a:xfrm>
            <a:off x="1024128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: BEV grid"/>
          <p:cNvSpPr/>
          <p:nvPr/>
        </p:nvSpPr>
        <p:spPr>
          <a:xfrm>
            <a:off x="1207008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: BEV grid"/>
          <p:cNvSpPr/>
          <p:nvPr/>
        </p:nvSpPr>
        <p:spPr>
          <a:xfrm>
            <a:off x="1389888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: BEV grid"/>
          <p:cNvSpPr/>
          <p:nvPr/>
        </p:nvSpPr>
        <p:spPr>
          <a:xfrm>
            <a:off x="1572768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: BEV grid"/>
          <p:cNvSpPr/>
          <p:nvPr/>
        </p:nvSpPr>
        <p:spPr>
          <a:xfrm>
            <a:off x="1755648" y="21488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: BEV grid"/>
          <p:cNvSpPr/>
          <p:nvPr/>
        </p:nvSpPr>
        <p:spPr>
          <a:xfrm>
            <a:off x="658368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: BEV grid"/>
          <p:cNvSpPr/>
          <p:nvPr/>
        </p:nvSpPr>
        <p:spPr>
          <a:xfrm>
            <a:off x="841247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: BEV grid"/>
          <p:cNvSpPr/>
          <p:nvPr/>
        </p:nvSpPr>
        <p:spPr>
          <a:xfrm>
            <a:off x="1024128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: BEV grid"/>
          <p:cNvSpPr/>
          <p:nvPr/>
        </p:nvSpPr>
        <p:spPr>
          <a:xfrm>
            <a:off x="1207008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: BEV grid"/>
          <p:cNvSpPr/>
          <p:nvPr/>
        </p:nvSpPr>
        <p:spPr>
          <a:xfrm>
            <a:off x="1389888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: BEV grid"/>
          <p:cNvSpPr/>
          <p:nvPr/>
        </p:nvSpPr>
        <p:spPr>
          <a:xfrm>
            <a:off x="1572768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: BEV grid"/>
          <p:cNvSpPr/>
          <p:nvPr/>
        </p:nvSpPr>
        <p:spPr>
          <a:xfrm>
            <a:off x="1755648" y="23317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: BEV grid"/>
          <p:cNvSpPr/>
          <p:nvPr/>
        </p:nvSpPr>
        <p:spPr>
          <a:xfrm>
            <a:off x="658368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: BEV grid"/>
          <p:cNvSpPr/>
          <p:nvPr/>
        </p:nvSpPr>
        <p:spPr>
          <a:xfrm>
            <a:off x="841247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: BEV grid"/>
          <p:cNvSpPr/>
          <p:nvPr/>
        </p:nvSpPr>
        <p:spPr>
          <a:xfrm>
            <a:off x="1024128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: BEV grid"/>
          <p:cNvSpPr/>
          <p:nvPr/>
        </p:nvSpPr>
        <p:spPr>
          <a:xfrm>
            <a:off x="1207008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: BEV grid"/>
          <p:cNvSpPr/>
          <p:nvPr/>
        </p:nvSpPr>
        <p:spPr>
          <a:xfrm>
            <a:off x="1389888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: BEV grid"/>
          <p:cNvSpPr/>
          <p:nvPr/>
        </p:nvSpPr>
        <p:spPr>
          <a:xfrm>
            <a:off x="1572768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: BEV grid"/>
          <p:cNvSpPr/>
          <p:nvPr/>
        </p:nvSpPr>
        <p:spPr>
          <a:xfrm>
            <a:off x="1755648" y="25146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: BEV grid"/>
          <p:cNvSpPr/>
          <p:nvPr/>
        </p:nvSpPr>
        <p:spPr>
          <a:xfrm>
            <a:off x="658368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: BEV grid"/>
          <p:cNvSpPr/>
          <p:nvPr/>
        </p:nvSpPr>
        <p:spPr>
          <a:xfrm>
            <a:off x="841247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: BEV grid"/>
          <p:cNvSpPr/>
          <p:nvPr/>
        </p:nvSpPr>
        <p:spPr>
          <a:xfrm>
            <a:off x="1024128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: BEV grid"/>
          <p:cNvSpPr/>
          <p:nvPr/>
        </p:nvSpPr>
        <p:spPr>
          <a:xfrm>
            <a:off x="1207008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: BEV grid"/>
          <p:cNvSpPr/>
          <p:nvPr/>
        </p:nvSpPr>
        <p:spPr>
          <a:xfrm>
            <a:off x="1389888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: BEV grid"/>
          <p:cNvSpPr/>
          <p:nvPr/>
        </p:nvSpPr>
        <p:spPr>
          <a:xfrm>
            <a:off x="1572768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: BEV grid"/>
          <p:cNvSpPr/>
          <p:nvPr/>
        </p:nvSpPr>
        <p:spPr>
          <a:xfrm>
            <a:off x="1755648" y="26974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: module"/>
          <p:cNvSpPr/>
          <p:nvPr/>
        </p:nvSpPr>
        <p:spPr>
          <a:xfrm>
            <a:off x="594360" y="3383280"/>
            <a:ext cx="1737360" cy="38404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Near 60%: retain all tokens</a:t>
            </a:r>
          </a:p>
        </p:txBody>
      </p:sp>
      <p:sp>
        <p:nvSpPr>
          <p:cNvPr id="55" name="Edit: module"/>
          <p:cNvSpPr/>
          <p:nvPr/>
        </p:nvSpPr>
        <p:spPr>
          <a:xfrm>
            <a:off x="594360" y="3931920"/>
            <a:ext cx="1737360" cy="384048"/>
          </a:xfrm>
          <a:prstGeom prst="round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Far 40%: stride-2 sampling</a:t>
            </a:r>
          </a:p>
        </p:txBody>
      </p:sp>
      <p:sp>
        <p:nvSpPr>
          <p:cNvPr id="56" name="Edit: label"/>
          <p:cNvSpPr txBox="1"/>
          <p:nvPr/>
        </p:nvSpPr>
        <p:spPr>
          <a:xfrm>
            <a:off x="502920" y="4663440"/>
            <a:ext cx="19202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Keep original dense
BEV coordinates</a:t>
            </a:r>
          </a:p>
        </p:txBody>
      </p:sp>
      <p:sp>
        <p:nvSpPr>
          <p:cNvPr id="57" name="Edit: container"/>
          <p:cNvSpPr/>
          <p:nvPr/>
        </p:nvSpPr>
        <p:spPr>
          <a:xfrm>
            <a:off x="2880360" y="914400"/>
            <a:ext cx="2926080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: container title"/>
          <p:cNvSpPr txBox="1"/>
          <p:nvPr/>
        </p:nvSpPr>
        <p:spPr>
          <a:xfrm>
            <a:off x="2990088" y="960120"/>
            <a:ext cx="27066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2. Sparse Encoding</a:t>
            </a:r>
          </a:p>
        </p:txBody>
      </p:sp>
      <p:sp>
        <p:nvSpPr>
          <p:cNvPr id="59" name="Edit: module"/>
          <p:cNvSpPr/>
          <p:nvPr/>
        </p:nvSpPr>
        <p:spPr>
          <a:xfrm>
            <a:off x="3273552" y="1554480"/>
            <a:ext cx="2139696" cy="41148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62A62"/>
                </a:solidFill>
                <a:latin typeface="Aptos"/>
              </a:rPr>
              <a:t>Layer 1:  GVAD  →  Cross-Attn  →  FFN</a:t>
            </a:r>
          </a:p>
        </p:txBody>
      </p:sp>
      <p:sp>
        <p:nvSpPr>
          <p:cNvPr id="60" name="Edit: module"/>
          <p:cNvSpPr/>
          <p:nvPr/>
        </p:nvSpPr>
        <p:spPr>
          <a:xfrm>
            <a:off x="3273552" y="2212848"/>
            <a:ext cx="2139696" cy="41148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62A62"/>
                </a:solidFill>
                <a:latin typeface="Aptos"/>
              </a:rPr>
              <a:t>Layer 2:  GVAD  →  Cross-Attn  →  FFN</a:t>
            </a:r>
          </a:p>
        </p:txBody>
      </p:sp>
      <p:sp>
        <p:nvSpPr>
          <p:cNvPr id="61" name="Edit: module"/>
          <p:cNvSpPr/>
          <p:nvPr/>
        </p:nvSpPr>
        <p:spPr>
          <a:xfrm>
            <a:off x="3273552" y="2871215"/>
            <a:ext cx="2139696" cy="41148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62A62"/>
                </a:solidFill>
                <a:latin typeface="Aptos"/>
              </a:rPr>
              <a:t>Layer 3:  GVAD  →  Cross-Attn  →  FFN</a:t>
            </a:r>
          </a:p>
        </p:txBody>
      </p:sp>
      <p:sp>
        <p:nvSpPr>
          <p:cNvPr id="62" name="Edit: module"/>
          <p:cNvSpPr/>
          <p:nvPr/>
        </p:nvSpPr>
        <p:spPr>
          <a:xfrm>
            <a:off x="3273552" y="3529584"/>
            <a:ext cx="2139696" cy="41148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62A62"/>
                </a:solidFill>
                <a:latin typeface="Aptos"/>
              </a:rPr>
              <a:t>Layer 4:  GVAD  →  Cross-Attn  →  FFN</a:t>
            </a:r>
          </a:p>
        </p:txBody>
      </p:sp>
      <p:sp>
        <p:nvSpPr>
          <p:cNvPr id="63" name="Edit: module"/>
          <p:cNvSpPr/>
          <p:nvPr/>
        </p:nvSpPr>
        <p:spPr>
          <a:xfrm>
            <a:off x="3273552" y="4187952"/>
            <a:ext cx="2139696" cy="411480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62A62"/>
                </a:solidFill>
                <a:latin typeface="Aptos"/>
              </a:rPr>
              <a:t>Layer 5:  GVAD  →  Cross-Attn  →  FFN</a:t>
            </a:r>
          </a:p>
        </p:txBody>
      </p:sp>
      <p:sp>
        <p:nvSpPr>
          <p:cNvPr id="64" name="Edit: label"/>
          <p:cNvSpPr txBox="1"/>
          <p:nvPr/>
        </p:nvSpPr>
        <p:spPr>
          <a:xfrm>
            <a:off x="3246120" y="5001768"/>
            <a:ext cx="224028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Active Tokens Only</a:t>
            </a:r>
          </a:p>
        </p:txBody>
      </p:sp>
      <p:sp>
        <p:nvSpPr>
          <p:cNvPr id="65" name="Edit: container"/>
          <p:cNvSpPr/>
          <p:nvPr/>
        </p:nvSpPr>
        <p:spPr>
          <a:xfrm>
            <a:off x="6080760" y="914400"/>
            <a:ext cx="2331720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: container title"/>
          <p:cNvSpPr txBox="1"/>
          <p:nvPr/>
        </p:nvSpPr>
        <p:spPr>
          <a:xfrm>
            <a:off x="6190488" y="960120"/>
            <a:ext cx="2112263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3. Restore Dense BEV</a:t>
            </a:r>
          </a:p>
        </p:txBody>
      </p:sp>
      <p:sp>
        <p:nvSpPr>
          <p:cNvPr id="67" name="Edit: module"/>
          <p:cNvSpPr/>
          <p:nvPr/>
        </p:nvSpPr>
        <p:spPr>
          <a:xfrm>
            <a:off x="6473952" y="1627632"/>
            <a:ext cx="1554480" cy="566928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4 Neighboring
Active Tokens</a:t>
            </a:r>
          </a:p>
        </p:txBody>
      </p:sp>
      <p:sp>
        <p:nvSpPr>
          <p:cNvPr id="68" name="Edit: module"/>
          <p:cNvSpPr/>
          <p:nvPr/>
        </p:nvSpPr>
        <p:spPr>
          <a:xfrm>
            <a:off x="6473952" y="2615184"/>
            <a:ext cx="1554480" cy="56692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Bilinear
Interpolation</a:t>
            </a:r>
          </a:p>
        </p:txBody>
      </p:sp>
      <p:sp>
        <p:nvSpPr>
          <p:cNvPr id="69" name="Edit: BEV grid"/>
          <p:cNvSpPr/>
          <p:nvPr/>
        </p:nvSpPr>
        <p:spPr>
          <a:xfrm>
            <a:off x="6656832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: BEV grid"/>
          <p:cNvSpPr/>
          <p:nvPr/>
        </p:nvSpPr>
        <p:spPr>
          <a:xfrm>
            <a:off x="6830568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: BEV grid"/>
          <p:cNvSpPr/>
          <p:nvPr/>
        </p:nvSpPr>
        <p:spPr>
          <a:xfrm>
            <a:off x="7004304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: BEV grid"/>
          <p:cNvSpPr/>
          <p:nvPr/>
        </p:nvSpPr>
        <p:spPr>
          <a:xfrm>
            <a:off x="7178040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: BEV grid"/>
          <p:cNvSpPr/>
          <p:nvPr/>
        </p:nvSpPr>
        <p:spPr>
          <a:xfrm>
            <a:off x="7351776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: BEV grid"/>
          <p:cNvSpPr/>
          <p:nvPr/>
        </p:nvSpPr>
        <p:spPr>
          <a:xfrm>
            <a:off x="7525512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: BEV grid"/>
          <p:cNvSpPr/>
          <p:nvPr/>
        </p:nvSpPr>
        <p:spPr>
          <a:xfrm>
            <a:off x="7699248" y="3657600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: BEV grid"/>
          <p:cNvSpPr/>
          <p:nvPr/>
        </p:nvSpPr>
        <p:spPr>
          <a:xfrm>
            <a:off x="6656832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: BEV grid"/>
          <p:cNvSpPr/>
          <p:nvPr/>
        </p:nvSpPr>
        <p:spPr>
          <a:xfrm>
            <a:off x="6830568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: BEV grid"/>
          <p:cNvSpPr/>
          <p:nvPr/>
        </p:nvSpPr>
        <p:spPr>
          <a:xfrm>
            <a:off x="7004304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: BEV grid"/>
          <p:cNvSpPr/>
          <p:nvPr/>
        </p:nvSpPr>
        <p:spPr>
          <a:xfrm>
            <a:off x="7178040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: BEV grid"/>
          <p:cNvSpPr/>
          <p:nvPr/>
        </p:nvSpPr>
        <p:spPr>
          <a:xfrm>
            <a:off x="7351776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: BEV grid"/>
          <p:cNvSpPr/>
          <p:nvPr/>
        </p:nvSpPr>
        <p:spPr>
          <a:xfrm>
            <a:off x="7525512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: BEV grid"/>
          <p:cNvSpPr/>
          <p:nvPr/>
        </p:nvSpPr>
        <p:spPr>
          <a:xfrm>
            <a:off x="7699248" y="3831336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: BEV grid"/>
          <p:cNvSpPr/>
          <p:nvPr/>
        </p:nvSpPr>
        <p:spPr>
          <a:xfrm>
            <a:off x="6656832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: BEV grid"/>
          <p:cNvSpPr/>
          <p:nvPr/>
        </p:nvSpPr>
        <p:spPr>
          <a:xfrm>
            <a:off x="6830568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: BEV grid"/>
          <p:cNvSpPr/>
          <p:nvPr/>
        </p:nvSpPr>
        <p:spPr>
          <a:xfrm>
            <a:off x="7004304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: BEV grid"/>
          <p:cNvSpPr/>
          <p:nvPr/>
        </p:nvSpPr>
        <p:spPr>
          <a:xfrm>
            <a:off x="7178040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: BEV grid"/>
          <p:cNvSpPr/>
          <p:nvPr/>
        </p:nvSpPr>
        <p:spPr>
          <a:xfrm>
            <a:off x="7351776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: BEV grid"/>
          <p:cNvSpPr/>
          <p:nvPr/>
        </p:nvSpPr>
        <p:spPr>
          <a:xfrm>
            <a:off x="7525512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: BEV grid"/>
          <p:cNvSpPr/>
          <p:nvPr/>
        </p:nvSpPr>
        <p:spPr>
          <a:xfrm>
            <a:off x="7699248" y="4005072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: BEV grid"/>
          <p:cNvSpPr/>
          <p:nvPr/>
        </p:nvSpPr>
        <p:spPr>
          <a:xfrm>
            <a:off x="6656832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: BEV grid"/>
          <p:cNvSpPr/>
          <p:nvPr/>
        </p:nvSpPr>
        <p:spPr>
          <a:xfrm>
            <a:off x="6830568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: BEV grid"/>
          <p:cNvSpPr/>
          <p:nvPr/>
        </p:nvSpPr>
        <p:spPr>
          <a:xfrm>
            <a:off x="7004304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: BEV grid"/>
          <p:cNvSpPr/>
          <p:nvPr/>
        </p:nvSpPr>
        <p:spPr>
          <a:xfrm>
            <a:off x="7178040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: BEV grid"/>
          <p:cNvSpPr/>
          <p:nvPr/>
        </p:nvSpPr>
        <p:spPr>
          <a:xfrm>
            <a:off x="7351776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: BEV grid"/>
          <p:cNvSpPr/>
          <p:nvPr/>
        </p:nvSpPr>
        <p:spPr>
          <a:xfrm>
            <a:off x="7525512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: BEV grid"/>
          <p:cNvSpPr/>
          <p:nvPr/>
        </p:nvSpPr>
        <p:spPr>
          <a:xfrm>
            <a:off x="7699248" y="4178808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: BEV grid"/>
          <p:cNvSpPr/>
          <p:nvPr/>
        </p:nvSpPr>
        <p:spPr>
          <a:xfrm>
            <a:off x="6656832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: BEV grid"/>
          <p:cNvSpPr/>
          <p:nvPr/>
        </p:nvSpPr>
        <p:spPr>
          <a:xfrm>
            <a:off x="6830568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: BEV grid"/>
          <p:cNvSpPr/>
          <p:nvPr/>
        </p:nvSpPr>
        <p:spPr>
          <a:xfrm>
            <a:off x="7004304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: BEV grid"/>
          <p:cNvSpPr/>
          <p:nvPr/>
        </p:nvSpPr>
        <p:spPr>
          <a:xfrm>
            <a:off x="7178040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: BEV grid"/>
          <p:cNvSpPr/>
          <p:nvPr/>
        </p:nvSpPr>
        <p:spPr>
          <a:xfrm>
            <a:off x="7351776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: BEV grid"/>
          <p:cNvSpPr/>
          <p:nvPr/>
        </p:nvSpPr>
        <p:spPr>
          <a:xfrm>
            <a:off x="7525512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: BEV grid"/>
          <p:cNvSpPr/>
          <p:nvPr/>
        </p:nvSpPr>
        <p:spPr>
          <a:xfrm>
            <a:off x="7699248" y="4352544"/>
            <a:ext cx="173736" cy="173736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Edit: arrow"/>
          <p:cNvCxnSpPr/>
          <p:nvPr/>
        </p:nvCxnSpPr>
        <p:spPr>
          <a:xfrm>
            <a:off x="7251192" y="2194560"/>
            <a:ext cx="0" cy="420624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Edit: arrow"/>
          <p:cNvCxnSpPr/>
          <p:nvPr/>
        </p:nvCxnSpPr>
        <p:spPr>
          <a:xfrm>
            <a:off x="7251192" y="3182112"/>
            <a:ext cx="0" cy="475488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Edit: container"/>
          <p:cNvSpPr/>
          <p:nvPr/>
        </p:nvSpPr>
        <p:spPr>
          <a:xfrm>
            <a:off x="8686800" y="914400"/>
            <a:ext cx="2971800" cy="50749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: container title"/>
          <p:cNvSpPr txBox="1"/>
          <p:nvPr/>
        </p:nvSpPr>
        <p:spPr>
          <a:xfrm>
            <a:off x="8796528" y="960120"/>
            <a:ext cx="275234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Final Dense Refinement</a:t>
            </a:r>
          </a:p>
        </p:txBody>
      </p:sp>
      <p:sp>
        <p:nvSpPr>
          <p:cNvPr id="108" name="Edit: module"/>
          <p:cNvSpPr/>
          <p:nvPr/>
        </p:nvSpPr>
        <p:spPr>
          <a:xfrm>
            <a:off x="9052560" y="1828800"/>
            <a:ext cx="2240280" cy="54864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Layer 6: GVAD → Image Cross-Attn → FFN</a:t>
            </a:r>
          </a:p>
        </p:txBody>
      </p:sp>
      <p:sp>
        <p:nvSpPr>
          <p:cNvPr id="109" name="Edit: BEV grid"/>
          <p:cNvSpPr/>
          <p:nvPr/>
        </p:nvSpPr>
        <p:spPr>
          <a:xfrm>
            <a:off x="937260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: BEV grid"/>
          <p:cNvSpPr/>
          <p:nvPr/>
        </p:nvSpPr>
        <p:spPr>
          <a:xfrm>
            <a:off x="955548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: BEV grid"/>
          <p:cNvSpPr/>
          <p:nvPr/>
        </p:nvSpPr>
        <p:spPr>
          <a:xfrm>
            <a:off x="973836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: BEV grid"/>
          <p:cNvSpPr/>
          <p:nvPr/>
        </p:nvSpPr>
        <p:spPr>
          <a:xfrm>
            <a:off x="992124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: BEV grid"/>
          <p:cNvSpPr/>
          <p:nvPr/>
        </p:nvSpPr>
        <p:spPr>
          <a:xfrm>
            <a:off x="1010412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: BEV grid"/>
          <p:cNvSpPr/>
          <p:nvPr/>
        </p:nvSpPr>
        <p:spPr>
          <a:xfrm>
            <a:off x="1028700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: BEV grid"/>
          <p:cNvSpPr/>
          <p:nvPr/>
        </p:nvSpPr>
        <p:spPr>
          <a:xfrm>
            <a:off x="10469880" y="297180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: BEV grid"/>
          <p:cNvSpPr/>
          <p:nvPr/>
        </p:nvSpPr>
        <p:spPr>
          <a:xfrm>
            <a:off x="937260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: BEV grid"/>
          <p:cNvSpPr/>
          <p:nvPr/>
        </p:nvSpPr>
        <p:spPr>
          <a:xfrm>
            <a:off x="955548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: BEV grid"/>
          <p:cNvSpPr/>
          <p:nvPr/>
        </p:nvSpPr>
        <p:spPr>
          <a:xfrm>
            <a:off x="973836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: BEV grid"/>
          <p:cNvSpPr/>
          <p:nvPr/>
        </p:nvSpPr>
        <p:spPr>
          <a:xfrm>
            <a:off x="992124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: BEV grid"/>
          <p:cNvSpPr/>
          <p:nvPr/>
        </p:nvSpPr>
        <p:spPr>
          <a:xfrm>
            <a:off x="1010412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: BEV grid"/>
          <p:cNvSpPr/>
          <p:nvPr/>
        </p:nvSpPr>
        <p:spPr>
          <a:xfrm>
            <a:off x="1028700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: BEV grid"/>
          <p:cNvSpPr/>
          <p:nvPr/>
        </p:nvSpPr>
        <p:spPr>
          <a:xfrm>
            <a:off x="10469880" y="315468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: BEV grid"/>
          <p:cNvSpPr/>
          <p:nvPr/>
        </p:nvSpPr>
        <p:spPr>
          <a:xfrm>
            <a:off x="937260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: BEV grid"/>
          <p:cNvSpPr/>
          <p:nvPr/>
        </p:nvSpPr>
        <p:spPr>
          <a:xfrm>
            <a:off x="955548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: BEV grid"/>
          <p:cNvSpPr/>
          <p:nvPr/>
        </p:nvSpPr>
        <p:spPr>
          <a:xfrm>
            <a:off x="973836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: BEV grid"/>
          <p:cNvSpPr/>
          <p:nvPr/>
        </p:nvSpPr>
        <p:spPr>
          <a:xfrm>
            <a:off x="992124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: BEV grid"/>
          <p:cNvSpPr/>
          <p:nvPr/>
        </p:nvSpPr>
        <p:spPr>
          <a:xfrm>
            <a:off x="1010412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: BEV grid"/>
          <p:cNvSpPr/>
          <p:nvPr/>
        </p:nvSpPr>
        <p:spPr>
          <a:xfrm>
            <a:off x="1028700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: BEV grid"/>
          <p:cNvSpPr/>
          <p:nvPr/>
        </p:nvSpPr>
        <p:spPr>
          <a:xfrm>
            <a:off x="10469880" y="333756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: BEV grid"/>
          <p:cNvSpPr/>
          <p:nvPr/>
        </p:nvSpPr>
        <p:spPr>
          <a:xfrm>
            <a:off x="937260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: BEV grid"/>
          <p:cNvSpPr/>
          <p:nvPr/>
        </p:nvSpPr>
        <p:spPr>
          <a:xfrm>
            <a:off x="955548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: BEV grid"/>
          <p:cNvSpPr/>
          <p:nvPr/>
        </p:nvSpPr>
        <p:spPr>
          <a:xfrm>
            <a:off x="973836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: BEV grid"/>
          <p:cNvSpPr/>
          <p:nvPr/>
        </p:nvSpPr>
        <p:spPr>
          <a:xfrm>
            <a:off x="992124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: BEV grid"/>
          <p:cNvSpPr/>
          <p:nvPr/>
        </p:nvSpPr>
        <p:spPr>
          <a:xfrm>
            <a:off x="1010412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: BEV grid"/>
          <p:cNvSpPr/>
          <p:nvPr/>
        </p:nvSpPr>
        <p:spPr>
          <a:xfrm>
            <a:off x="1028700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: BEV grid"/>
          <p:cNvSpPr/>
          <p:nvPr/>
        </p:nvSpPr>
        <p:spPr>
          <a:xfrm>
            <a:off x="10469880" y="352044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: BEV grid"/>
          <p:cNvSpPr/>
          <p:nvPr/>
        </p:nvSpPr>
        <p:spPr>
          <a:xfrm>
            <a:off x="937260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: BEV grid"/>
          <p:cNvSpPr/>
          <p:nvPr/>
        </p:nvSpPr>
        <p:spPr>
          <a:xfrm>
            <a:off x="955548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: BEV grid"/>
          <p:cNvSpPr/>
          <p:nvPr/>
        </p:nvSpPr>
        <p:spPr>
          <a:xfrm>
            <a:off x="973836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: BEV grid"/>
          <p:cNvSpPr/>
          <p:nvPr/>
        </p:nvSpPr>
        <p:spPr>
          <a:xfrm>
            <a:off x="992124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: BEV grid"/>
          <p:cNvSpPr/>
          <p:nvPr/>
        </p:nvSpPr>
        <p:spPr>
          <a:xfrm>
            <a:off x="1010412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: BEV grid"/>
          <p:cNvSpPr/>
          <p:nvPr/>
        </p:nvSpPr>
        <p:spPr>
          <a:xfrm>
            <a:off x="1028700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: BEV grid"/>
          <p:cNvSpPr/>
          <p:nvPr/>
        </p:nvSpPr>
        <p:spPr>
          <a:xfrm>
            <a:off x="10469880" y="3703320"/>
            <a:ext cx="182880" cy="182880"/>
          </a:xfrm>
          <a:prstGeom prst="rect">
            <a:avLst/>
          </a:prstGeom>
          <a:solidFill>
            <a:srgbClr val="D6F4FC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: label"/>
          <p:cNvSpPr txBox="1"/>
          <p:nvPr/>
        </p:nvSpPr>
        <p:spPr>
          <a:xfrm>
            <a:off x="8961120" y="4251960"/>
            <a:ext cx="2377440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Dense BEV Tokens
100 × 100 × 256</a:t>
            </a:r>
          </a:p>
        </p:txBody>
      </p:sp>
      <p:cxnSp>
        <p:nvCxnSpPr>
          <p:cNvPr id="145" name="Edit: arrow"/>
          <p:cNvCxnSpPr/>
          <p:nvPr/>
        </p:nvCxnSpPr>
        <p:spPr>
          <a:xfrm>
            <a:off x="2606040" y="3429000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Edit: arrow"/>
          <p:cNvCxnSpPr/>
          <p:nvPr/>
        </p:nvCxnSpPr>
        <p:spPr>
          <a:xfrm>
            <a:off x="5806440" y="3429000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Edit: arrow"/>
          <p:cNvCxnSpPr/>
          <p:nvPr/>
        </p:nvCxnSpPr>
        <p:spPr>
          <a:xfrm>
            <a:off x="8412480" y="3429000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8" name="Reference Raster — delete to reveal editable reconstruction" descr="nearfar_detailed_architecture_v2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: label"/>
          <p:cNvSpPr txBox="1"/>
          <p:nvPr/>
        </p:nvSpPr>
        <p:spPr>
          <a:xfrm>
            <a:off x="182880" y="91440"/>
            <a:ext cx="11823192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400" b="1">
                <a:solidFill>
                  <a:srgbClr val="062A62"/>
                </a:solidFill>
                <a:latin typeface="Aptos"/>
              </a:rPr>
              <a:t>Agri-AMoE 3D Occupancy Decoder</a:t>
            </a:r>
          </a:p>
        </p:txBody>
      </p:sp>
      <p:sp>
        <p:nvSpPr>
          <p:cNvPr id="3" name="Edit: module"/>
          <p:cNvSpPr/>
          <p:nvPr/>
        </p:nvSpPr>
        <p:spPr>
          <a:xfrm>
            <a:off x="320040" y="2560320"/>
            <a:ext cx="1188720" cy="640080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Final BEV
Tokens</a:t>
            </a:r>
          </a:p>
        </p:txBody>
      </p:sp>
      <p:sp>
        <p:nvSpPr>
          <p:cNvPr id="4" name="Edit: module"/>
          <p:cNvSpPr/>
          <p:nvPr/>
        </p:nvSpPr>
        <p:spPr>
          <a:xfrm>
            <a:off x="1783080" y="2560320"/>
            <a:ext cx="1170432" cy="64008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62A62"/>
                </a:solidFill>
                <a:latin typeface="Aptos"/>
              </a:rPr>
              <a:t>BEV-to-3D
Lift</a:t>
            </a:r>
          </a:p>
        </p:txBody>
      </p:sp>
      <p:cxnSp>
        <p:nvCxnSpPr>
          <p:cNvPr id="5" name="Edit: arrow"/>
          <p:cNvCxnSpPr/>
          <p:nvPr/>
        </p:nvCxnSpPr>
        <p:spPr>
          <a:xfrm>
            <a:off x="1508760" y="2880360"/>
            <a:ext cx="27432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dit: container"/>
          <p:cNvSpPr/>
          <p:nvPr/>
        </p:nvSpPr>
        <p:spPr>
          <a:xfrm>
            <a:off x="3246120" y="1051560"/>
            <a:ext cx="2057400" cy="42062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: container title"/>
          <p:cNvSpPr txBox="1"/>
          <p:nvPr/>
        </p:nvSpPr>
        <p:spPr>
          <a:xfrm>
            <a:off x="3355848" y="1097280"/>
            <a:ext cx="1837943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3D Feature Volume</a:t>
            </a:r>
          </a:p>
        </p:txBody>
      </p:sp>
      <p:sp>
        <p:nvSpPr>
          <p:cNvPr id="8" name="Edit: BEV grid"/>
          <p:cNvSpPr/>
          <p:nvPr/>
        </p:nvSpPr>
        <p:spPr>
          <a:xfrm>
            <a:off x="365760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: BEV grid"/>
          <p:cNvSpPr/>
          <p:nvPr/>
        </p:nvSpPr>
        <p:spPr>
          <a:xfrm>
            <a:off x="384048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: BEV grid"/>
          <p:cNvSpPr/>
          <p:nvPr/>
        </p:nvSpPr>
        <p:spPr>
          <a:xfrm>
            <a:off x="402336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: BEV grid"/>
          <p:cNvSpPr/>
          <p:nvPr/>
        </p:nvSpPr>
        <p:spPr>
          <a:xfrm>
            <a:off x="420624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: BEV grid"/>
          <p:cNvSpPr/>
          <p:nvPr/>
        </p:nvSpPr>
        <p:spPr>
          <a:xfrm>
            <a:off x="438912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: BEV grid"/>
          <p:cNvSpPr/>
          <p:nvPr/>
        </p:nvSpPr>
        <p:spPr>
          <a:xfrm>
            <a:off x="457200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: BEV grid"/>
          <p:cNvSpPr/>
          <p:nvPr/>
        </p:nvSpPr>
        <p:spPr>
          <a:xfrm>
            <a:off x="4754880" y="20574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: BEV grid"/>
          <p:cNvSpPr/>
          <p:nvPr/>
        </p:nvSpPr>
        <p:spPr>
          <a:xfrm>
            <a:off x="365760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: BEV grid"/>
          <p:cNvSpPr/>
          <p:nvPr/>
        </p:nvSpPr>
        <p:spPr>
          <a:xfrm>
            <a:off x="384048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: BEV grid"/>
          <p:cNvSpPr/>
          <p:nvPr/>
        </p:nvSpPr>
        <p:spPr>
          <a:xfrm>
            <a:off x="402336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: BEV grid"/>
          <p:cNvSpPr/>
          <p:nvPr/>
        </p:nvSpPr>
        <p:spPr>
          <a:xfrm>
            <a:off x="420624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: BEV grid"/>
          <p:cNvSpPr/>
          <p:nvPr/>
        </p:nvSpPr>
        <p:spPr>
          <a:xfrm>
            <a:off x="438912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: BEV grid"/>
          <p:cNvSpPr/>
          <p:nvPr/>
        </p:nvSpPr>
        <p:spPr>
          <a:xfrm>
            <a:off x="457200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: BEV grid"/>
          <p:cNvSpPr/>
          <p:nvPr/>
        </p:nvSpPr>
        <p:spPr>
          <a:xfrm>
            <a:off x="4754880" y="22402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: BEV grid"/>
          <p:cNvSpPr/>
          <p:nvPr/>
        </p:nvSpPr>
        <p:spPr>
          <a:xfrm>
            <a:off x="365760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: BEV grid"/>
          <p:cNvSpPr/>
          <p:nvPr/>
        </p:nvSpPr>
        <p:spPr>
          <a:xfrm>
            <a:off x="384048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: BEV grid"/>
          <p:cNvSpPr/>
          <p:nvPr/>
        </p:nvSpPr>
        <p:spPr>
          <a:xfrm>
            <a:off x="402336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: BEV grid"/>
          <p:cNvSpPr/>
          <p:nvPr/>
        </p:nvSpPr>
        <p:spPr>
          <a:xfrm>
            <a:off x="420624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: BEV grid"/>
          <p:cNvSpPr/>
          <p:nvPr/>
        </p:nvSpPr>
        <p:spPr>
          <a:xfrm>
            <a:off x="438912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: BEV grid"/>
          <p:cNvSpPr/>
          <p:nvPr/>
        </p:nvSpPr>
        <p:spPr>
          <a:xfrm>
            <a:off x="457200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: BEV grid"/>
          <p:cNvSpPr/>
          <p:nvPr/>
        </p:nvSpPr>
        <p:spPr>
          <a:xfrm>
            <a:off x="4754880" y="242316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: BEV grid"/>
          <p:cNvSpPr/>
          <p:nvPr/>
        </p:nvSpPr>
        <p:spPr>
          <a:xfrm>
            <a:off x="365760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: BEV grid"/>
          <p:cNvSpPr/>
          <p:nvPr/>
        </p:nvSpPr>
        <p:spPr>
          <a:xfrm>
            <a:off x="384048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: BEV grid"/>
          <p:cNvSpPr/>
          <p:nvPr/>
        </p:nvSpPr>
        <p:spPr>
          <a:xfrm>
            <a:off x="402336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: BEV grid"/>
          <p:cNvSpPr/>
          <p:nvPr/>
        </p:nvSpPr>
        <p:spPr>
          <a:xfrm>
            <a:off x="420624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: BEV grid"/>
          <p:cNvSpPr/>
          <p:nvPr/>
        </p:nvSpPr>
        <p:spPr>
          <a:xfrm>
            <a:off x="438912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: BEV grid"/>
          <p:cNvSpPr/>
          <p:nvPr/>
        </p:nvSpPr>
        <p:spPr>
          <a:xfrm>
            <a:off x="457200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: BEV grid"/>
          <p:cNvSpPr/>
          <p:nvPr/>
        </p:nvSpPr>
        <p:spPr>
          <a:xfrm>
            <a:off x="4754880" y="260604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: BEV grid"/>
          <p:cNvSpPr/>
          <p:nvPr/>
        </p:nvSpPr>
        <p:spPr>
          <a:xfrm>
            <a:off x="365760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: BEV grid"/>
          <p:cNvSpPr/>
          <p:nvPr/>
        </p:nvSpPr>
        <p:spPr>
          <a:xfrm>
            <a:off x="384048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: BEV grid"/>
          <p:cNvSpPr/>
          <p:nvPr/>
        </p:nvSpPr>
        <p:spPr>
          <a:xfrm>
            <a:off x="402336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: BEV grid"/>
          <p:cNvSpPr/>
          <p:nvPr/>
        </p:nvSpPr>
        <p:spPr>
          <a:xfrm>
            <a:off x="420624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: BEV grid"/>
          <p:cNvSpPr/>
          <p:nvPr/>
        </p:nvSpPr>
        <p:spPr>
          <a:xfrm>
            <a:off x="438912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: BEV grid"/>
          <p:cNvSpPr/>
          <p:nvPr/>
        </p:nvSpPr>
        <p:spPr>
          <a:xfrm>
            <a:off x="457200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: BEV grid"/>
          <p:cNvSpPr/>
          <p:nvPr/>
        </p:nvSpPr>
        <p:spPr>
          <a:xfrm>
            <a:off x="4754880" y="278892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: BEV grid"/>
          <p:cNvSpPr/>
          <p:nvPr/>
        </p:nvSpPr>
        <p:spPr>
          <a:xfrm>
            <a:off x="365760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: BEV grid"/>
          <p:cNvSpPr/>
          <p:nvPr/>
        </p:nvSpPr>
        <p:spPr>
          <a:xfrm>
            <a:off x="384048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: BEV grid"/>
          <p:cNvSpPr/>
          <p:nvPr/>
        </p:nvSpPr>
        <p:spPr>
          <a:xfrm>
            <a:off x="402336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: BEV grid"/>
          <p:cNvSpPr/>
          <p:nvPr/>
        </p:nvSpPr>
        <p:spPr>
          <a:xfrm>
            <a:off x="420624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: BEV grid"/>
          <p:cNvSpPr/>
          <p:nvPr/>
        </p:nvSpPr>
        <p:spPr>
          <a:xfrm>
            <a:off x="438912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: BEV grid"/>
          <p:cNvSpPr/>
          <p:nvPr/>
        </p:nvSpPr>
        <p:spPr>
          <a:xfrm>
            <a:off x="457200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: BEV grid"/>
          <p:cNvSpPr/>
          <p:nvPr/>
        </p:nvSpPr>
        <p:spPr>
          <a:xfrm>
            <a:off x="4754880" y="297180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: BEV grid"/>
          <p:cNvSpPr/>
          <p:nvPr/>
        </p:nvSpPr>
        <p:spPr>
          <a:xfrm>
            <a:off x="365760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: BEV grid"/>
          <p:cNvSpPr/>
          <p:nvPr/>
        </p:nvSpPr>
        <p:spPr>
          <a:xfrm>
            <a:off x="384048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: BEV grid"/>
          <p:cNvSpPr/>
          <p:nvPr/>
        </p:nvSpPr>
        <p:spPr>
          <a:xfrm>
            <a:off x="402336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: BEV grid"/>
          <p:cNvSpPr/>
          <p:nvPr/>
        </p:nvSpPr>
        <p:spPr>
          <a:xfrm>
            <a:off x="420624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: BEV grid"/>
          <p:cNvSpPr/>
          <p:nvPr/>
        </p:nvSpPr>
        <p:spPr>
          <a:xfrm>
            <a:off x="438912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: BEV grid"/>
          <p:cNvSpPr/>
          <p:nvPr/>
        </p:nvSpPr>
        <p:spPr>
          <a:xfrm>
            <a:off x="457200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: BEV grid"/>
          <p:cNvSpPr/>
          <p:nvPr/>
        </p:nvSpPr>
        <p:spPr>
          <a:xfrm>
            <a:off x="4754880" y="3154680"/>
            <a:ext cx="182880" cy="182880"/>
          </a:xfrm>
          <a:prstGeom prst="rect">
            <a:avLst/>
          </a:prstGeom>
          <a:solidFill>
            <a:srgbClr val="BAE3A6"/>
          </a:solidFill>
          <a:ln w="17145">
            <a:solidFill>
              <a:srgbClr val="327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: label"/>
          <p:cNvSpPr txBox="1"/>
          <p:nvPr/>
        </p:nvSpPr>
        <p:spPr>
          <a:xfrm>
            <a:off x="3502152" y="3749039"/>
            <a:ext cx="1572768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Cₐ = 96, Z = 25</a:t>
            </a:r>
          </a:p>
        </p:txBody>
      </p:sp>
      <p:cxnSp>
        <p:nvCxnSpPr>
          <p:cNvPr id="58" name="Edit: arrow"/>
          <p:cNvCxnSpPr/>
          <p:nvPr/>
        </p:nvCxnSpPr>
        <p:spPr>
          <a:xfrm>
            <a:off x="2953512" y="2880360"/>
            <a:ext cx="292608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dit: container"/>
          <p:cNvSpPr/>
          <p:nvPr/>
        </p:nvSpPr>
        <p:spPr>
          <a:xfrm>
            <a:off x="5623560" y="1051560"/>
            <a:ext cx="1993392" cy="4206240"/>
          </a:xfrm>
          <a:prstGeom prst="roundRect">
            <a:avLst/>
          </a:prstGeom>
          <a:solidFill>
            <a:srgbClr val="F6FB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: container title"/>
          <p:cNvSpPr txBox="1"/>
          <p:nvPr/>
        </p:nvSpPr>
        <p:spPr>
          <a:xfrm>
            <a:off x="5733288" y="1097280"/>
            <a:ext cx="1773936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Feature-guided Router</a:t>
            </a:r>
          </a:p>
        </p:txBody>
      </p:sp>
      <p:sp>
        <p:nvSpPr>
          <p:cNvPr id="61" name="Edit: module"/>
          <p:cNvSpPr/>
          <p:nvPr/>
        </p:nvSpPr>
        <p:spPr>
          <a:xfrm>
            <a:off x="5925312" y="1737360"/>
            <a:ext cx="1389888" cy="475488"/>
          </a:xfrm>
          <a:prstGeom prst="roundRect">
            <a:avLst/>
          </a:prstGeom>
          <a:solidFill>
            <a:srgbClr val="A9D6FF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Channel Saliency</a:t>
            </a:r>
          </a:p>
        </p:txBody>
      </p:sp>
      <p:sp>
        <p:nvSpPr>
          <p:cNvPr id="62" name="Edit: module"/>
          <p:cNvSpPr/>
          <p:nvPr/>
        </p:nvSpPr>
        <p:spPr>
          <a:xfrm>
            <a:off x="5925312" y="2487168"/>
            <a:ext cx="1389888" cy="475488"/>
          </a:xfrm>
          <a:prstGeom prst="roundRect">
            <a:avLst/>
          </a:prstGeom>
          <a:solidFill>
            <a:srgbClr val="BFF1B8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Spatial Saliency</a:t>
            </a:r>
          </a:p>
        </p:txBody>
      </p:sp>
      <p:sp>
        <p:nvSpPr>
          <p:cNvPr id="63" name="Edit: module"/>
          <p:cNvSpPr/>
          <p:nvPr/>
        </p:nvSpPr>
        <p:spPr>
          <a:xfrm>
            <a:off x="5925312" y="3236976"/>
            <a:ext cx="1389888" cy="475488"/>
          </a:xfrm>
          <a:prstGeom prst="roundRect">
            <a:avLst/>
          </a:prstGeom>
          <a:solidFill>
            <a:srgbClr val="CDB7F6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x/y/z Gradient
Energy</a:t>
            </a:r>
          </a:p>
        </p:txBody>
      </p:sp>
      <p:sp>
        <p:nvSpPr>
          <p:cNvPr id="64" name="Edit: module"/>
          <p:cNvSpPr/>
          <p:nvPr/>
        </p:nvSpPr>
        <p:spPr>
          <a:xfrm>
            <a:off x="5925312" y="4078224"/>
            <a:ext cx="1389888" cy="475488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Voxel-wise
Softmax Router</a:t>
            </a:r>
          </a:p>
        </p:txBody>
      </p:sp>
      <p:cxnSp>
        <p:nvCxnSpPr>
          <p:cNvPr id="65" name="Edit: arrow"/>
          <p:cNvCxnSpPr/>
          <p:nvPr/>
        </p:nvCxnSpPr>
        <p:spPr>
          <a:xfrm>
            <a:off x="5303520" y="2880360"/>
            <a:ext cx="32004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Edit: container"/>
          <p:cNvSpPr/>
          <p:nvPr/>
        </p:nvSpPr>
        <p:spPr>
          <a:xfrm>
            <a:off x="7936992" y="1051560"/>
            <a:ext cx="2240280" cy="4206240"/>
          </a:xfrm>
          <a:prstGeom prst="roundRect">
            <a:avLst/>
          </a:prstGeom>
          <a:solidFill>
            <a:srgbClr val="FFF9F0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: container title"/>
          <p:cNvSpPr txBox="1"/>
          <p:nvPr/>
        </p:nvSpPr>
        <p:spPr>
          <a:xfrm>
            <a:off x="8046719" y="1097280"/>
            <a:ext cx="2020824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62A62"/>
                </a:solidFill>
                <a:latin typeface="Aptos"/>
              </a:rPr>
              <a:t>Three Anisotropic Experts</a:t>
            </a:r>
          </a:p>
        </p:txBody>
      </p:sp>
      <p:sp>
        <p:nvSpPr>
          <p:cNvPr id="68" name="Edit: module"/>
          <p:cNvSpPr/>
          <p:nvPr/>
        </p:nvSpPr>
        <p:spPr>
          <a:xfrm>
            <a:off x="8293608" y="1691640"/>
            <a:ext cx="1536192" cy="566928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Planar Detail
1 × 3 × 3</a:t>
            </a:r>
          </a:p>
        </p:txBody>
      </p:sp>
      <p:sp>
        <p:nvSpPr>
          <p:cNvPr id="69" name="Edit: module"/>
          <p:cNvSpPr/>
          <p:nvPr/>
        </p:nvSpPr>
        <p:spPr>
          <a:xfrm>
            <a:off x="8293608" y="2651760"/>
            <a:ext cx="1536192" cy="566928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Vertical Structure
3 × 1 × 1</a:t>
            </a:r>
          </a:p>
        </p:txBody>
      </p:sp>
      <p:sp>
        <p:nvSpPr>
          <p:cNvPr id="70" name="Edit: module"/>
          <p:cNvSpPr/>
          <p:nvPr/>
        </p:nvSpPr>
        <p:spPr>
          <a:xfrm>
            <a:off x="8293608" y="3611880"/>
            <a:ext cx="1536192" cy="566928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Planar Context
Dilation 2</a:t>
            </a:r>
          </a:p>
        </p:txBody>
      </p:sp>
      <p:cxnSp>
        <p:nvCxnSpPr>
          <p:cNvPr id="71" name="Edit: arrow"/>
          <p:cNvCxnSpPr/>
          <p:nvPr/>
        </p:nvCxnSpPr>
        <p:spPr>
          <a:xfrm>
            <a:off x="7616952" y="4315968"/>
            <a:ext cx="32004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dit: module"/>
          <p:cNvSpPr/>
          <p:nvPr/>
        </p:nvSpPr>
        <p:spPr>
          <a:xfrm>
            <a:off x="10497312" y="2560320"/>
            <a:ext cx="1261872" cy="640080"/>
          </a:xfrm>
          <a:prstGeom prst="roundRect">
            <a:avLst/>
          </a:prstGeom>
          <a:solidFill>
            <a:srgbClr val="FFC48B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062A62"/>
                </a:solidFill>
                <a:latin typeface="Aptos"/>
              </a:rPr>
              <a:t>Residual Mix
+ 1×1×1 Classifier</a:t>
            </a:r>
          </a:p>
        </p:txBody>
      </p:sp>
      <p:cxnSp>
        <p:nvCxnSpPr>
          <p:cNvPr id="73" name="Edit: arrow"/>
          <p:cNvCxnSpPr/>
          <p:nvPr/>
        </p:nvCxnSpPr>
        <p:spPr>
          <a:xfrm>
            <a:off x="10177272" y="2880360"/>
            <a:ext cx="320040" cy="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Edit: module"/>
          <p:cNvSpPr/>
          <p:nvPr/>
        </p:nvSpPr>
        <p:spPr>
          <a:xfrm>
            <a:off x="10497312" y="3840480"/>
            <a:ext cx="1261872" cy="640080"/>
          </a:xfrm>
          <a:prstGeom prst="roundRect">
            <a:avLst/>
          </a:prstGeom>
          <a:solidFill>
            <a:srgbClr val="D6F4FC"/>
          </a:solidFill>
          <a:ln w="17145">
            <a:solidFill>
              <a:srgbClr val="062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62A62"/>
                </a:solidFill>
                <a:latin typeface="Aptos"/>
              </a:rPr>
              <a:t>6-class
Semantic Logits</a:t>
            </a:r>
          </a:p>
        </p:txBody>
      </p:sp>
      <p:cxnSp>
        <p:nvCxnSpPr>
          <p:cNvPr id="75" name="Edit: arrow"/>
          <p:cNvCxnSpPr/>
          <p:nvPr/>
        </p:nvCxnSpPr>
        <p:spPr>
          <a:xfrm>
            <a:off x="11128248" y="3200400"/>
            <a:ext cx="0" cy="640080"/>
          </a:xfrm>
          <a:prstGeom prst="line">
            <a:avLst/>
          </a:prstGeom>
          <a:ln w="19050">
            <a:solidFill>
              <a:srgbClr val="062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Reference Raster — delete to reveal editable reconstruction" descr="agri_amoe_module_imagegen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AgriOcc Editable Architecture Figures</dc:title>
  <dc:subject>Five editable architecture reconstructions with reference rasters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